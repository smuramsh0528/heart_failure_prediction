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81" r:id="rId15"/>
    <p:sldId id="269" r:id="rId16"/>
    <p:sldId id="270" r:id="rId17"/>
    <p:sldId id="271" r:id="rId18"/>
    <p:sldId id="272" r:id="rId19"/>
    <p:sldId id="273" r:id="rId20"/>
    <p:sldId id="274" r:id="rId21"/>
    <p:sldId id="282" r:id="rId22"/>
    <p:sldId id="276" r:id="rId23"/>
    <p:sldId id="277" r:id="rId24"/>
    <p:sldId id="283" r:id="rId25"/>
    <p:sldId id="278" r:id="rId26"/>
    <p:sldId id="284" r:id="rId27"/>
    <p:sldId id="279" r:id="rId28"/>
    <p:sldId id="280" r:id="rId2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D82B6B-657E-7238-0E56-AA3459AA4012}" v="589" dt="2023-12-04T06:50:41.801"/>
    <p1510:client id="{51948727-683A-989E-5D4A-C11ACF9C5B11}" v="158" dt="2023-12-05T00:58:00.172"/>
    <p1510:client id="{8B56AE34-26B4-0667-1DBB-BC3AABED59F2}" v="7" dt="2023-12-05T01:11:02.200"/>
    <p1510:client id="{AFDC6C8B-9921-66C3-1572-4CEA5A85F7C0}" v="61" dt="2023-12-05T01:50:52.97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00038" y="428512"/>
            <a:ext cx="8543923" cy="48260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12/4/2023</a:t>
            </a:fld>
            <a:endParaRPr lang="en-US"/>
          </a:p>
        </p:txBody>
      </p:sp>
      <p:sp>
        <p:nvSpPr>
          <p:cNvPr id="6" name="Holder 6"/>
          <p:cNvSpPr>
            <a:spLocks noGrp="1"/>
          </p:cNvSpPr>
          <p:nvPr>
            <p:ph type="sldNum" sz="quarter" idx="7"/>
          </p:nvPr>
        </p:nvSpPr>
        <p:spPr/>
        <p:txBody>
          <a:bodyPr lIns="0" tIns="0" rIns="0" bIns="0"/>
          <a:lstStyle>
            <a:lvl1pPr>
              <a:defRPr sz="1100" b="0" i="0">
                <a:solidFill>
                  <a:srgbClr val="888888"/>
                </a:solidFill>
                <a:latin typeface="Arial MT"/>
                <a:cs typeface="Arial MT"/>
              </a:defRPr>
            </a:lvl1pPr>
          </a:lstStyle>
          <a:p>
            <a:pPr marL="38100">
              <a:lnSpc>
                <a:spcPts val="1315"/>
              </a:lnSpc>
            </a:pPr>
            <a:fld id="{81D60167-4931-47E6-BA6A-407CBD079E47}" type="slidenum">
              <a:rPr dirty="0"/>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12/4/2023</a:t>
            </a:fld>
            <a:endParaRPr lang="en-US"/>
          </a:p>
        </p:txBody>
      </p:sp>
      <p:sp>
        <p:nvSpPr>
          <p:cNvPr id="6" name="Holder 6"/>
          <p:cNvSpPr>
            <a:spLocks noGrp="1"/>
          </p:cNvSpPr>
          <p:nvPr>
            <p:ph type="sldNum" sz="quarter" idx="7"/>
          </p:nvPr>
        </p:nvSpPr>
        <p:spPr/>
        <p:txBody>
          <a:bodyPr lIns="0" tIns="0" rIns="0" bIns="0"/>
          <a:lstStyle>
            <a:lvl1pPr>
              <a:defRPr sz="1100" b="0" i="0">
                <a:solidFill>
                  <a:srgbClr val="888888"/>
                </a:solidFill>
                <a:latin typeface="Arial MT"/>
                <a:cs typeface="Arial MT"/>
              </a:defRPr>
            </a:lvl1pPr>
          </a:lstStyle>
          <a:p>
            <a:pPr marL="38100">
              <a:lnSpc>
                <a:spcPts val="1315"/>
              </a:lnSpc>
            </a:pPr>
            <a:fld id="{81D60167-4931-47E6-BA6A-407CBD079E47}" type="slidenum">
              <a:rPr dirty="0"/>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12/4/2023</a:t>
            </a:fld>
            <a:endParaRPr lang="en-US"/>
          </a:p>
        </p:txBody>
      </p:sp>
      <p:sp>
        <p:nvSpPr>
          <p:cNvPr id="7" name="Holder 7"/>
          <p:cNvSpPr>
            <a:spLocks noGrp="1"/>
          </p:cNvSpPr>
          <p:nvPr>
            <p:ph type="sldNum" sz="quarter" idx="7"/>
          </p:nvPr>
        </p:nvSpPr>
        <p:spPr/>
        <p:txBody>
          <a:bodyPr lIns="0" tIns="0" rIns="0" bIns="0"/>
          <a:lstStyle>
            <a:lvl1pPr>
              <a:defRPr sz="1100" b="0" i="0">
                <a:solidFill>
                  <a:srgbClr val="888888"/>
                </a:solidFill>
                <a:latin typeface="Arial MT"/>
                <a:cs typeface="Arial MT"/>
              </a:defRPr>
            </a:lvl1pPr>
          </a:lstStyle>
          <a:p>
            <a:pPr marL="38100">
              <a:lnSpc>
                <a:spcPts val="1315"/>
              </a:lnSpc>
            </a:pPr>
            <a:fld id="{81D60167-4931-47E6-BA6A-407CBD079E47}" type="slidenum">
              <a:rPr dirty="0"/>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12/4/2023</a:t>
            </a:fld>
            <a:endParaRPr lang="en-US"/>
          </a:p>
        </p:txBody>
      </p:sp>
      <p:sp>
        <p:nvSpPr>
          <p:cNvPr id="5" name="Holder 5"/>
          <p:cNvSpPr>
            <a:spLocks noGrp="1"/>
          </p:cNvSpPr>
          <p:nvPr>
            <p:ph type="sldNum" sz="quarter" idx="7"/>
          </p:nvPr>
        </p:nvSpPr>
        <p:spPr/>
        <p:txBody>
          <a:bodyPr lIns="0" tIns="0" rIns="0" bIns="0"/>
          <a:lstStyle>
            <a:lvl1pPr>
              <a:defRPr sz="1100" b="0" i="0">
                <a:solidFill>
                  <a:srgbClr val="888888"/>
                </a:solidFill>
                <a:latin typeface="Arial MT"/>
                <a:cs typeface="Arial MT"/>
              </a:defRPr>
            </a:lvl1pPr>
          </a:lstStyle>
          <a:p>
            <a:pPr marL="38100">
              <a:lnSpc>
                <a:spcPts val="1315"/>
              </a:lnSpc>
            </a:pPr>
            <a:fld id="{81D60167-4931-47E6-BA6A-407CBD079E47}" type="slidenum">
              <a:rPr dirty="0"/>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099047" y="5245110"/>
            <a:ext cx="3045460" cy="0"/>
          </a:xfrm>
          <a:custGeom>
            <a:avLst/>
            <a:gdLst/>
            <a:ahLst/>
            <a:cxnLst/>
            <a:rect l="l" t="t" r="r" b="b"/>
            <a:pathLst>
              <a:path w="3045459">
                <a:moveTo>
                  <a:pt x="0" y="0"/>
                </a:moveTo>
                <a:lnTo>
                  <a:pt x="3044951" y="0"/>
                </a:lnTo>
              </a:path>
            </a:pathLst>
          </a:custGeom>
          <a:ln w="50799">
            <a:solidFill>
              <a:srgbClr val="DE7023"/>
            </a:solidFill>
          </a:ln>
        </p:spPr>
        <p:txBody>
          <a:bodyPr wrap="square" lIns="0" tIns="0" rIns="0" bIns="0" rtlCol="0"/>
          <a:lstStyle/>
          <a:p>
            <a:endParaRPr/>
          </a:p>
        </p:txBody>
      </p:sp>
      <p:sp>
        <p:nvSpPr>
          <p:cNvPr id="17" name="bg object 17"/>
          <p:cNvSpPr/>
          <p:nvPr/>
        </p:nvSpPr>
        <p:spPr>
          <a:xfrm>
            <a:off x="0" y="5245667"/>
            <a:ext cx="6099175" cy="0"/>
          </a:xfrm>
          <a:custGeom>
            <a:avLst/>
            <a:gdLst/>
            <a:ahLst/>
            <a:cxnLst/>
            <a:rect l="l" t="t" r="r" b="b"/>
            <a:pathLst>
              <a:path w="6099175">
                <a:moveTo>
                  <a:pt x="0" y="0"/>
                </a:moveTo>
                <a:lnTo>
                  <a:pt x="6099047" y="0"/>
                </a:lnTo>
              </a:path>
            </a:pathLst>
          </a:custGeom>
          <a:ln w="50799">
            <a:solidFill>
              <a:srgbClr val="0F787D"/>
            </a:solidFill>
          </a:ln>
        </p:spPr>
        <p:txBody>
          <a:bodyPr wrap="square" lIns="0" tIns="0" rIns="0" bIns="0" rtlCol="0"/>
          <a:lstStyle/>
          <a:p>
            <a:endParaRPr/>
          </a:p>
        </p:txBody>
      </p:sp>
      <p:sp>
        <p:nvSpPr>
          <p:cNvPr id="18" name="bg object 18"/>
          <p:cNvSpPr/>
          <p:nvPr/>
        </p:nvSpPr>
        <p:spPr>
          <a:xfrm>
            <a:off x="0" y="5272276"/>
            <a:ext cx="9144000" cy="1586230"/>
          </a:xfrm>
          <a:custGeom>
            <a:avLst/>
            <a:gdLst/>
            <a:ahLst/>
            <a:cxnLst/>
            <a:rect l="l" t="t" r="r" b="b"/>
            <a:pathLst>
              <a:path w="9144000" h="1586229">
                <a:moveTo>
                  <a:pt x="9143999" y="1585723"/>
                </a:moveTo>
                <a:lnTo>
                  <a:pt x="0" y="1585723"/>
                </a:lnTo>
                <a:lnTo>
                  <a:pt x="0" y="0"/>
                </a:lnTo>
                <a:lnTo>
                  <a:pt x="9143999" y="0"/>
                </a:lnTo>
                <a:lnTo>
                  <a:pt x="9143999" y="1585723"/>
                </a:lnTo>
                <a:close/>
              </a:path>
            </a:pathLst>
          </a:custGeom>
          <a:solidFill>
            <a:srgbClr val="F1F1F1"/>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12/4/2023</a:t>
            </a:fld>
            <a:endParaRPr lang="en-US"/>
          </a:p>
        </p:txBody>
      </p:sp>
      <p:sp>
        <p:nvSpPr>
          <p:cNvPr id="4" name="Holder 4"/>
          <p:cNvSpPr>
            <a:spLocks noGrp="1"/>
          </p:cNvSpPr>
          <p:nvPr>
            <p:ph type="sldNum" sz="quarter" idx="7"/>
          </p:nvPr>
        </p:nvSpPr>
        <p:spPr/>
        <p:txBody>
          <a:bodyPr lIns="0" tIns="0" rIns="0" bIns="0"/>
          <a:lstStyle>
            <a:lvl1pPr>
              <a:defRPr sz="1100" b="0" i="0">
                <a:solidFill>
                  <a:srgbClr val="888888"/>
                </a:solidFill>
                <a:latin typeface="Arial MT"/>
                <a:cs typeface="Arial MT"/>
              </a:defRPr>
            </a:lvl1pPr>
          </a:lstStyle>
          <a:p>
            <a:pPr marL="38100">
              <a:lnSpc>
                <a:spcPts val="1315"/>
              </a:lnSpc>
            </a:pPr>
            <a:fld id="{81D60167-4931-47E6-BA6A-407CBD079E47}" type="slidenum">
              <a:rPr dirty="0"/>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099047" y="6419355"/>
            <a:ext cx="3045460" cy="0"/>
          </a:xfrm>
          <a:custGeom>
            <a:avLst/>
            <a:gdLst/>
            <a:ahLst/>
            <a:cxnLst/>
            <a:rect l="l" t="t" r="r" b="b"/>
            <a:pathLst>
              <a:path w="3045459">
                <a:moveTo>
                  <a:pt x="0" y="0"/>
                </a:moveTo>
                <a:lnTo>
                  <a:pt x="3044951" y="0"/>
                </a:lnTo>
              </a:path>
            </a:pathLst>
          </a:custGeom>
          <a:ln w="50799">
            <a:solidFill>
              <a:srgbClr val="DE7023"/>
            </a:solidFill>
          </a:ln>
        </p:spPr>
        <p:txBody>
          <a:bodyPr wrap="square" lIns="0" tIns="0" rIns="0" bIns="0" rtlCol="0"/>
          <a:lstStyle/>
          <a:p>
            <a:endParaRPr/>
          </a:p>
        </p:txBody>
      </p:sp>
      <p:sp>
        <p:nvSpPr>
          <p:cNvPr id="17" name="bg object 17"/>
          <p:cNvSpPr/>
          <p:nvPr/>
        </p:nvSpPr>
        <p:spPr>
          <a:xfrm>
            <a:off x="0" y="6419912"/>
            <a:ext cx="6099175" cy="0"/>
          </a:xfrm>
          <a:custGeom>
            <a:avLst/>
            <a:gdLst/>
            <a:ahLst/>
            <a:cxnLst/>
            <a:rect l="l" t="t" r="r" b="b"/>
            <a:pathLst>
              <a:path w="6099175">
                <a:moveTo>
                  <a:pt x="0" y="0"/>
                </a:moveTo>
                <a:lnTo>
                  <a:pt x="6099047" y="0"/>
                </a:lnTo>
              </a:path>
            </a:pathLst>
          </a:custGeom>
          <a:ln w="50799">
            <a:solidFill>
              <a:srgbClr val="0F787D"/>
            </a:solidFill>
          </a:ln>
        </p:spPr>
        <p:txBody>
          <a:bodyPr wrap="square" lIns="0" tIns="0" rIns="0" bIns="0" rtlCol="0"/>
          <a:lstStyle/>
          <a:p>
            <a:endParaRPr/>
          </a:p>
        </p:txBody>
      </p:sp>
      <p:sp>
        <p:nvSpPr>
          <p:cNvPr id="18" name="bg object 18"/>
          <p:cNvSpPr/>
          <p:nvPr/>
        </p:nvSpPr>
        <p:spPr>
          <a:xfrm>
            <a:off x="0" y="6446520"/>
            <a:ext cx="9144000" cy="411480"/>
          </a:xfrm>
          <a:custGeom>
            <a:avLst/>
            <a:gdLst/>
            <a:ahLst/>
            <a:cxnLst/>
            <a:rect l="l" t="t" r="r" b="b"/>
            <a:pathLst>
              <a:path w="9144000" h="411479">
                <a:moveTo>
                  <a:pt x="9143999" y="411479"/>
                </a:moveTo>
                <a:lnTo>
                  <a:pt x="0" y="411479"/>
                </a:lnTo>
                <a:lnTo>
                  <a:pt x="0" y="0"/>
                </a:lnTo>
                <a:lnTo>
                  <a:pt x="9143999" y="0"/>
                </a:lnTo>
                <a:lnTo>
                  <a:pt x="9143999" y="411479"/>
                </a:lnTo>
                <a:close/>
              </a:path>
            </a:pathLst>
          </a:custGeom>
          <a:solidFill>
            <a:srgbClr val="F1F1F1"/>
          </a:solidFill>
        </p:spPr>
        <p:txBody>
          <a:bodyPr wrap="square" lIns="0" tIns="0" rIns="0" bIns="0" rtlCol="0"/>
          <a:lstStyle/>
          <a:p>
            <a:endParaRPr/>
          </a:p>
        </p:txBody>
      </p:sp>
      <p:sp>
        <p:nvSpPr>
          <p:cNvPr id="20" name="bg object 20"/>
          <p:cNvSpPr/>
          <p:nvPr/>
        </p:nvSpPr>
        <p:spPr>
          <a:xfrm>
            <a:off x="6099047" y="26122"/>
            <a:ext cx="3045460" cy="0"/>
          </a:xfrm>
          <a:custGeom>
            <a:avLst/>
            <a:gdLst/>
            <a:ahLst/>
            <a:cxnLst/>
            <a:rect l="l" t="t" r="r" b="b"/>
            <a:pathLst>
              <a:path w="3045459">
                <a:moveTo>
                  <a:pt x="0" y="0"/>
                </a:moveTo>
                <a:lnTo>
                  <a:pt x="3044951" y="0"/>
                </a:lnTo>
              </a:path>
            </a:pathLst>
          </a:custGeom>
          <a:ln w="50799">
            <a:solidFill>
              <a:srgbClr val="A5A5A5"/>
            </a:solidFill>
          </a:ln>
        </p:spPr>
        <p:txBody>
          <a:bodyPr wrap="square" lIns="0" tIns="0" rIns="0" bIns="0" rtlCol="0"/>
          <a:lstStyle/>
          <a:p>
            <a:endParaRPr/>
          </a:p>
        </p:txBody>
      </p:sp>
      <p:sp>
        <p:nvSpPr>
          <p:cNvPr id="21" name="bg object 21"/>
          <p:cNvSpPr/>
          <p:nvPr/>
        </p:nvSpPr>
        <p:spPr>
          <a:xfrm>
            <a:off x="0" y="26679"/>
            <a:ext cx="6099175" cy="0"/>
          </a:xfrm>
          <a:custGeom>
            <a:avLst/>
            <a:gdLst/>
            <a:ahLst/>
            <a:cxnLst/>
            <a:rect l="l" t="t" r="r" b="b"/>
            <a:pathLst>
              <a:path w="6099175">
                <a:moveTo>
                  <a:pt x="0" y="0"/>
                </a:moveTo>
                <a:lnTo>
                  <a:pt x="6099047" y="0"/>
                </a:lnTo>
              </a:path>
            </a:pathLst>
          </a:custGeom>
          <a:ln w="50799">
            <a:solidFill>
              <a:srgbClr val="90142A"/>
            </a:solidFill>
          </a:ln>
        </p:spPr>
        <p:txBody>
          <a:bodyPr wrap="square" lIns="0" tIns="0" rIns="0" bIns="0" rtlCol="0"/>
          <a:lstStyle/>
          <a:p>
            <a:endParaRPr/>
          </a:p>
        </p:txBody>
      </p:sp>
      <p:sp>
        <p:nvSpPr>
          <p:cNvPr id="2" name="Holder 2"/>
          <p:cNvSpPr>
            <a:spLocks noGrp="1"/>
          </p:cNvSpPr>
          <p:nvPr>
            <p:ph type="title"/>
          </p:nvPr>
        </p:nvSpPr>
        <p:spPr>
          <a:xfrm>
            <a:off x="300038" y="428512"/>
            <a:ext cx="8543923" cy="482600"/>
          </a:xfrm>
          <a:prstGeom prst="rect">
            <a:avLst/>
          </a:prstGeom>
        </p:spPr>
        <p:txBody>
          <a:bodyPr wrap="square" lIns="0" tIns="0" rIns="0" bIns="0">
            <a:spAutoFit/>
          </a:bodyPr>
          <a:lstStyle>
            <a:lvl1pPr>
              <a:defRPr sz="3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299212" y="1410949"/>
            <a:ext cx="8545574" cy="435356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12/4/2023</a:t>
            </a:fld>
            <a:endParaRPr lang="en-US"/>
          </a:p>
        </p:txBody>
      </p:sp>
      <p:sp>
        <p:nvSpPr>
          <p:cNvPr id="6" name="Holder 6"/>
          <p:cNvSpPr>
            <a:spLocks noGrp="1"/>
          </p:cNvSpPr>
          <p:nvPr>
            <p:ph type="sldNum" sz="quarter" idx="7"/>
          </p:nvPr>
        </p:nvSpPr>
        <p:spPr>
          <a:xfrm>
            <a:off x="8668962" y="6554615"/>
            <a:ext cx="231775" cy="181609"/>
          </a:xfrm>
          <a:prstGeom prst="rect">
            <a:avLst/>
          </a:prstGeom>
        </p:spPr>
        <p:txBody>
          <a:bodyPr wrap="square" lIns="0" tIns="0" rIns="0" bIns="0">
            <a:spAutoFit/>
          </a:bodyPr>
          <a:lstStyle>
            <a:lvl1pPr>
              <a:defRPr sz="1100" b="0" i="0">
                <a:solidFill>
                  <a:srgbClr val="888888"/>
                </a:solidFill>
                <a:latin typeface="Arial MT"/>
                <a:cs typeface="Arial MT"/>
              </a:defRPr>
            </a:lvl1pPr>
          </a:lstStyle>
          <a:p>
            <a:pPr marL="38100">
              <a:lnSpc>
                <a:spcPts val="1315"/>
              </a:lnSpc>
            </a:pPr>
            <a:fld id="{81D60167-4931-47E6-BA6A-407CBD079E47}" type="slidenum">
              <a:rPr dirty="0"/>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kaggle.com/datasets/fedesoriano/heart-failure-predictio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0" y="6393955"/>
            <a:ext cx="9144000" cy="464184"/>
            <a:chOff x="0" y="6393955"/>
            <a:chExt cx="9144000" cy="464184"/>
          </a:xfrm>
        </p:grpSpPr>
        <p:sp>
          <p:nvSpPr>
            <p:cNvPr id="4" name="object 4"/>
            <p:cNvSpPr/>
            <p:nvPr/>
          </p:nvSpPr>
          <p:spPr>
            <a:xfrm>
              <a:off x="0" y="6419355"/>
              <a:ext cx="3045460" cy="0"/>
            </a:xfrm>
            <a:custGeom>
              <a:avLst/>
              <a:gdLst/>
              <a:ahLst/>
              <a:cxnLst/>
              <a:rect l="l" t="t" r="r" b="b"/>
              <a:pathLst>
                <a:path w="3045460">
                  <a:moveTo>
                    <a:pt x="3044951" y="0"/>
                  </a:moveTo>
                  <a:lnTo>
                    <a:pt x="0" y="0"/>
                  </a:lnTo>
                </a:path>
              </a:pathLst>
            </a:custGeom>
            <a:ln w="50799">
              <a:solidFill>
                <a:srgbClr val="DE7023"/>
              </a:solidFill>
            </a:ln>
          </p:spPr>
          <p:txBody>
            <a:bodyPr wrap="square" lIns="0" tIns="0" rIns="0" bIns="0" rtlCol="0"/>
            <a:lstStyle/>
            <a:p>
              <a:endParaRPr/>
            </a:p>
          </p:txBody>
        </p:sp>
        <p:sp>
          <p:nvSpPr>
            <p:cNvPr id="5" name="object 5"/>
            <p:cNvSpPr/>
            <p:nvPr/>
          </p:nvSpPr>
          <p:spPr>
            <a:xfrm>
              <a:off x="3044951" y="6419912"/>
              <a:ext cx="6099175" cy="0"/>
            </a:xfrm>
            <a:custGeom>
              <a:avLst/>
              <a:gdLst/>
              <a:ahLst/>
              <a:cxnLst/>
              <a:rect l="l" t="t" r="r" b="b"/>
              <a:pathLst>
                <a:path w="6099175">
                  <a:moveTo>
                    <a:pt x="6099047" y="0"/>
                  </a:moveTo>
                  <a:lnTo>
                    <a:pt x="0" y="0"/>
                  </a:lnTo>
                </a:path>
              </a:pathLst>
            </a:custGeom>
            <a:ln w="50799">
              <a:solidFill>
                <a:srgbClr val="0F787D"/>
              </a:solidFill>
            </a:ln>
          </p:spPr>
          <p:txBody>
            <a:bodyPr wrap="square" lIns="0" tIns="0" rIns="0" bIns="0" rtlCol="0"/>
            <a:lstStyle/>
            <a:p>
              <a:endParaRPr/>
            </a:p>
          </p:txBody>
        </p:sp>
        <p:sp>
          <p:nvSpPr>
            <p:cNvPr id="6" name="object 6"/>
            <p:cNvSpPr/>
            <p:nvPr/>
          </p:nvSpPr>
          <p:spPr>
            <a:xfrm>
              <a:off x="0" y="6446520"/>
              <a:ext cx="9144000" cy="411480"/>
            </a:xfrm>
            <a:custGeom>
              <a:avLst/>
              <a:gdLst/>
              <a:ahLst/>
              <a:cxnLst/>
              <a:rect l="l" t="t" r="r" b="b"/>
              <a:pathLst>
                <a:path w="9144000" h="411479">
                  <a:moveTo>
                    <a:pt x="9143999" y="411479"/>
                  </a:moveTo>
                  <a:lnTo>
                    <a:pt x="0" y="411479"/>
                  </a:lnTo>
                  <a:lnTo>
                    <a:pt x="0" y="0"/>
                  </a:lnTo>
                  <a:lnTo>
                    <a:pt x="9143999" y="0"/>
                  </a:lnTo>
                  <a:lnTo>
                    <a:pt x="9143999" y="411479"/>
                  </a:lnTo>
                  <a:close/>
                </a:path>
              </a:pathLst>
            </a:custGeom>
            <a:solidFill>
              <a:srgbClr val="F1F1F1"/>
            </a:solidFill>
          </p:spPr>
          <p:txBody>
            <a:bodyPr wrap="square" lIns="0" tIns="0" rIns="0" bIns="0" rtlCol="0"/>
            <a:lstStyle/>
            <a:p>
              <a:endParaRPr/>
            </a:p>
          </p:txBody>
        </p:sp>
      </p:grpSp>
      <p:grpSp>
        <p:nvGrpSpPr>
          <p:cNvPr id="7" name="object 7"/>
          <p:cNvGrpSpPr/>
          <p:nvPr/>
        </p:nvGrpSpPr>
        <p:grpSpPr>
          <a:xfrm>
            <a:off x="0" y="0"/>
            <a:ext cx="9144000" cy="1313815"/>
            <a:chOff x="0" y="0"/>
            <a:chExt cx="9144000" cy="1313815"/>
          </a:xfrm>
        </p:grpSpPr>
        <p:sp>
          <p:nvSpPr>
            <p:cNvPr id="8" name="object 8"/>
            <p:cNvSpPr/>
            <p:nvPr/>
          </p:nvSpPr>
          <p:spPr>
            <a:xfrm>
              <a:off x="0" y="12207"/>
              <a:ext cx="3045460" cy="0"/>
            </a:xfrm>
            <a:custGeom>
              <a:avLst/>
              <a:gdLst/>
              <a:ahLst/>
              <a:cxnLst/>
              <a:rect l="l" t="t" r="r" b="b"/>
              <a:pathLst>
                <a:path w="3045460">
                  <a:moveTo>
                    <a:pt x="3044951" y="0"/>
                  </a:moveTo>
                  <a:lnTo>
                    <a:pt x="0" y="0"/>
                  </a:lnTo>
                </a:path>
              </a:pathLst>
            </a:custGeom>
            <a:ln w="50799">
              <a:solidFill>
                <a:srgbClr val="A5A5A5"/>
              </a:solidFill>
            </a:ln>
          </p:spPr>
          <p:txBody>
            <a:bodyPr wrap="square" lIns="0" tIns="0" rIns="0" bIns="0" rtlCol="0"/>
            <a:lstStyle/>
            <a:p>
              <a:endParaRPr/>
            </a:p>
          </p:txBody>
        </p:sp>
        <p:sp>
          <p:nvSpPr>
            <p:cNvPr id="9" name="object 9"/>
            <p:cNvSpPr/>
            <p:nvPr/>
          </p:nvSpPr>
          <p:spPr>
            <a:xfrm>
              <a:off x="3044951" y="12764"/>
              <a:ext cx="6099175" cy="0"/>
            </a:xfrm>
            <a:custGeom>
              <a:avLst/>
              <a:gdLst/>
              <a:ahLst/>
              <a:cxnLst/>
              <a:rect l="l" t="t" r="r" b="b"/>
              <a:pathLst>
                <a:path w="6099175">
                  <a:moveTo>
                    <a:pt x="6099047" y="0"/>
                  </a:moveTo>
                  <a:lnTo>
                    <a:pt x="0" y="0"/>
                  </a:lnTo>
                </a:path>
              </a:pathLst>
            </a:custGeom>
            <a:ln w="50799">
              <a:solidFill>
                <a:srgbClr val="90142A"/>
              </a:solidFill>
            </a:ln>
          </p:spPr>
          <p:txBody>
            <a:bodyPr wrap="square" lIns="0" tIns="0" rIns="0" bIns="0" rtlCol="0"/>
            <a:lstStyle/>
            <a:p>
              <a:endParaRPr/>
            </a:p>
          </p:txBody>
        </p:sp>
      </p:grpSp>
      <p:sp>
        <p:nvSpPr>
          <p:cNvPr id="11" name="object 11"/>
          <p:cNvSpPr txBox="1"/>
          <p:nvPr/>
        </p:nvSpPr>
        <p:spPr>
          <a:xfrm>
            <a:off x="196838" y="3147844"/>
            <a:ext cx="4756162" cy="351378"/>
          </a:xfrm>
          <a:prstGeom prst="rect">
            <a:avLst/>
          </a:prstGeom>
        </p:spPr>
        <p:txBody>
          <a:bodyPr vert="horz" wrap="square" lIns="0" tIns="12700" rIns="0" bIns="0" rtlCol="0">
            <a:spAutoFit/>
          </a:bodyPr>
          <a:lstStyle/>
          <a:p>
            <a:pPr marL="12700">
              <a:lnSpc>
                <a:spcPct val="100000"/>
              </a:lnSpc>
              <a:spcBef>
                <a:spcPts val="100"/>
              </a:spcBef>
            </a:pPr>
            <a:r>
              <a:rPr lang="en-US" sz="2200">
                <a:latin typeface="Times New Roman"/>
                <a:cs typeface="Times New Roman"/>
              </a:rPr>
              <a:t>HEART FAILURE PREDICTION</a:t>
            </a:r>
            <a:endParaRPr sz="2200">
              <a:latin typeface="Times New Roman"/>
              <a:cs typeface="Times New Roman"/>
            </a:endParaRPr>
          </a:p>
        </p:txBody>
      </p:sp>
      <p:sp>
        <p:nvSpPr>
          <p:cNvPr id="12" name="object 12"/>
          <p:cNvSpPr txBox="1"/>
          <p:nvPr/>
        </p:nvSpPr>
        <p:spPr>
          <a:xfrm>
            <a:off x="196850" y="1733320"/>
            <a:ext cx="7472680" cy="1092200"/>
          </a:xfrm>
          <a:prstGeom prst="rect">
            <a:avLst/>
          </a:prstGeom>
        </p:spPr>
        <p:txBody>
          <a:bodyPr vert="horz" wrap="square" lIns="0" tIns="12700" rIns="0" bIns="0" rtlCol="0">
            <a:spAutoFit/>
          </a:bodyPr>
          <a:lstStyle/>
          <a:p>
            <a:pPr marL="12700">
              <a:lnSpc>
                <a:spcPct val="100000"/>
              </a:lnSpc>
              <a:spcBef>
                <a:spcPts val="100"/>
              </a:spcBef>
            </a:pPr>
            <a:r>
              <a:rPr sz="3500" b="1" spc="-5">
                <a:latin typeface="Times New Roman"/>
                <a:cs typeface="Times New Roman"/>
              </a:rPr>
              <a:t>C</a:t>
            </a:r>
            <a:r>
              <a:rPr sz="3500" b="1">
                <a:latin typeface="Times New Roman"/>
                <a:cs typeface="Times New Roman"/>
              </a:rPr>
              <a:t>S</a:t>
            </a:r>
            <a:r>
              <a:rPr sz="3500" b="1" spc="-5">
                <a:latin typeface="Times New Roman"/>
                <a:cs typeface="Times New Roman"/>
              </a:rPr>
              <a:t> </a:t>
            </a:r>
            <a:r>
              <a:rPr sz="3500" b="1">
                <a:latin typeface="Times New Roman"/>
                <a:cs typeface="Times New Roman"/>
              </a:rPr>
              <a:t>513</a:t>
            </a:r>
            <a:r>
              <a:rPr sz="3500" b="1" spc="-195">
                <a:latin typeface="Times New Roman"/>
                <a:cs typeface="Times New Roman"/>
              </a:rPr>
              <a:t> </a:t>
            </a:r>
            <a:r>
              <a:rPr sz="3500" b="1">
                <a:latin typeface="Times New Roman"/>
                <a:cs typeface="Times New Roman"/>
              </a:rPr>
              <a:t>A</a:t>
            </a:r>
            <a:endParaRPr sz="3500">
              <a:latin typeface="Times New Roman"/>
              <a:cs typeface="Times New Roman"/>
            </a:endParaRPr>
          </a:p>
          <a:p>
            <a:pPr marL="12700">
              <a:lnSpc>
                <a:spcPct val="100000"/>
              </a:lnSpc>
            </a:pPr>
            <a:r>
              <a:rPr sz="3500" b="1" spc="-10">
                <a:latin typeface="Times New Roman"/>
                <a:cs typeface="Times New Roman"/>
              </a:rPr>
              <a:t>Knowledge</a:t>
            </a:r>
            <a:r>
              <a:rPr sz="3500" b="1" spc="-30">
                <a:latin typeface="Times New Roman"/>
                <a:cs typeface="Times New Roman"/>
              </a:rPr>
              <a:t> </a:t>
            </a:r>
            <a:r>
              <a:rPr sz="3500" b="1" spc="-5">
                <a:latin typeface="Times New Roman"/>
                <a:cs typeface="Times New Roman"/>
              </a:rPr>
              <a:t>Discovery</a:t>
            </a:r>
            <a:r>
              <a:rPr sz="3500" b="1" spc="-25">
                <a:latin typeface="Times New Roman"/>
                <a:cs typeface="Times New Roman"/>
              </a:rPr>
              <a:t> </a:t>
            </a:r>
            <a:r>
              <a:rPr sz="3500" b="1">
                <a:latin typeface="Times New Roman"/>
                <a:cs typeface="Times New Roman"/>
              </a:rPr>
              <a:t>and</a:t>
            </a:r>
            <a:r>
              <a:rPr sz="3500" b="1" spc="-20">
                <a:latin typeface="Times New Roman"/>
                <a:cs typeface="Times New Roman"/>
              </a:rPr>
              <a:t> </a:t>
            </a:r>
            <a:r>
              <a:rPr sz="3500" b="1" spc="-5">
                <a:latin typeface="Times New Roman"/>
                <a:cs typeface="Times New Roman"/>
              </a:rPr>
              <a:t>Data</a:t>
            </a:r>
            <a:r>
              <a:rPr sz="3500" b="1" spc="-25">
                <a:latin typeface="Times New Roman"/>
                <a:cs typeface="Times New Roman"/>
              </a:rPr>
              <a:t> </a:t>
            </a:r>
            <a:r>
              <a:rPr sz="3500" b="1" spc="-5">
                <a:latin typeface="Times New Roman"/>
                <a:cs typeface="Times New Roman"/>
              </a:rPr>
              <a:t>Mining</a:t>
            </a:r>
            <a:endParaRPr sz="3500">
              <a:latin typeface="Times New Roman"/>
              <a:cs typeface="Times New Roman"/>
            </a:endParaRPr>
          </a:p>
        </p:txBody>
      </p:sp>
      <p:pic>
        <p:nvPicPr>
          <p:cNvPr id="2" name="Picture 1" descr="A human heart with blood vessels&#10;&#10;Description automatically generated">
            <a:extLst>
              <a:ext uri="{FF2B5EF4-FFF2-40B4-BE49-F238E27FC236}">
                <a16:creationId xmlns:a16="http://schemas.microsoft.com/office/drawing/2014/main" id="{454A0208-7C91-F645-0CFD-774AE7502FEF}"/>
              </a:ext>
            </a:extLst>
          </p:cNvPr>
          <p:cNvPicPr>
            <a:picLocks noChangeAspect="1"/>
          </p:cNvPicPr>
          <p:nvPr/>
        </p:nvPicPr>
        <p:blipFill>
          <a:blip r:embed="rId3"/>
          <a:stretch>
            <a:fillRect/>
          </a:stretch>
        </p:blipFill>
        <p:spPr>
          <a:xfrm>
            <a:off x="5950562" y="3095548"/>
            <a:ext cx="2743200" cy="31269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038" y="428512"/>
            <a:ext cx="2735580" cy="482600"/>
          </a:xfrm>
          <a:prstGeom prst="rect">
            <a:avLst/>
          </a:prstGeom>
        </p:spPr>
        <p:txBody>
          <a:bodyPr vert="horz" wrap="square" lIns="0" tIns="12700" rIns="0" bIns="0" rtlCol="0">
            <a:spAutoFit/>
          </a:bodyPr>
          <a:lstStyle/>
          <a:p>
            <a:pPr marL="12700">
              <a:lnSpc>
                <a:spcPct val="100000"/>
              </a:lnSpc>
              <a:spcBef>
                <a:spcPts val="100"/>
              </a:spcBef>
            </a:pPr>
            <a:r>
              <a:rPr spc="-15"/>
              <a:t>Group</a:t>
            </a:r>
            <a:r>
              <a:rPr spc="-80"/>
              <a:t> </a:t>
            </a:r>
            <a:r>
              <a:rPr spc="-5"/>
              <a:t>Members</a:t>
            </a:r>
          </a:p>
        </p:txBody>
      </p:sp>
      <p:sp>
        <p:nvSpPr>
          <p:cNvPr id="5" name="object 5"/>
          <p:cNvSpPr txBox="1"/>
          <p:nvPr/>
        </p:nvSpPr>
        <p:spPr>
          <a:xfrm>
            <a:off x="1083182" y="4944529"/>
            <a:ext cx="1813529" cy="566822"/>
          </a:xfrm>
          <a:prstGeom prst="rect">
            <a:avLst/>
          </a:prstGeom>
        </p:spPr>
        <p:txBody>
          <a:bodyPr vert="horz" wrap="square" lIns="0" tIns="12700" rIns="0" bIns="0" rtlCol="0" anchor="t">
            <a:spAutoFit/>
          </a:bodyPr>
          <a:lstStyle/>
          <a:p>
            <a:pPr marL="271145">
              <a:spcBef>
                <a:spcPts val="5"/>
              </a:spcBef>
            </a:pPr>
            <a:r>
              <a:rPr lang="en-US" i="1" spc="-204">
                <a:latin typeface="Verdana"/>
                <a:ea typeface="+mn-lt"/>
                <a:cs typeface="+mn-lt"/>
              </a:rPr>
              <a:t>PAVAN PINNAM</a:t>
            </a:r>
            <a:br>
              <a:rPr lang="en-US" i="1" spc="-204">
                <a:latin typeface="Verdana"/>
                <a:cs typeface="Verdana"/>
              </a:rPr>
            </a:br>
            <a:r>
              <a:rPr lang="en-US" i="1" spc="-204">
                <a:latin typeface="Verdana"/>
                <a:cs typeface="Verdana"/>
              </a:rPr>
              <a:t>20012969</a:t>
            </a:r>
            <a:endParaRPr lang="en-US" i="1">
              <a:latin typeface="Verdana"/>
              <a:ea typeface="Verdana"/>
              <a:cs typeface="Verdana"/>
            </a:endParaRPr>
          </a:p>
        </p:txBody>
      </p:sp>
      <p:sp>
        <p:nvSpPr>
          <p:cNvPr id="6" name="object 6"/>
          <p:cNvSpPr txBox="1"/>
          <p:nvPr/>
        </p:nvSpPr>
        <p:spPr>
          <a:xfrm>
            <a:off x="6508035" y="4966298"/>
            <a:ext cx="2344932" cy="628377"/>
          </a:xfrm>
          <a:prstGeom prst="rect">
            <a:avLst/>
          </a:prstGeom>
        </p:spPr>
        <p:txBody>
          <a:bodyPr vert="horz" wrap="square" lIns="0" tIns="12700" rIns="0" bIns="0" rtlCol="0" anchor="t">
            <a:spAutoFit/>
          </a:bodyPr>
          <a:lstStyle/>
          <a:p>
            <a:pPr marL="354965" marR="5080" indent="-342900">
              <a:spcBef>
                <a:spcPts val="100"/>
              </a:spcBef>
            </a:pPr>
            <a:r>
              <a:rPr lang="en-US" sz="2000" i="1" spc="-150">
                <a:latin typeface="Verdana"/>
                <a:ea typeface="+mn-lt"/>
                <a:cs typeface="+mn-lt"/>
              </a:rPr>
              <a:t>Srihari </a:t>
            </a:r>
            <a:r>
              <a:rPr lang="en-US" sz="2000" i="1" spc="-150" err="1">
                <a:latin typeface="Verdana"/>
                <a:ea typeface="+mn-lt"/>
                <a:cs typeface="+mn-lt"/>
              </a:rPr>
              <a:t>muramshetty</a:t>
            </a:r>
            <a:br>
              <a:rPr lang="en-US" sz="2000" i="1" spc="-150">
                <a:latin typeface="Verdana"/>
                <a:cs typeface="Verdana"/>
              </a:rPr>
            </a:br>
            <a:r>
              <a:rPr lang="en-US" sz="2000" i="1" spc="-150">
                <a:latin typeface="Verdana"/>
                <a:cs typeface="Verdana"/>
              </a:rPr>
              <a:t> </a:t>
            </a:r>
            <a:r>
              <a:rPr sz="2000" i="1" spc="-150">
                <a:latin typeface="Verdana"/>
                <a:cs typeface="Verdana"/>
              </a:rPr>
              <a:t> </a:t>
            </a:r>
            <a:r>
              <a:rPr sz="2000" i="1" spc="-370">
                <a:latin typeface="Verdana"/>
                <a:cs typeface="Verdana"/>
              </a:rPr>
              <a:t>10474183</a:t>
            </a:r>
            <a:endParaRPr lang="en-US" sz="2000" i="1">
              <a:latin typeface="Verdana"/>
              <a:ea typeface="Verdana"/>
              <a:cs typeface="Verdana"/>
            </a:endParaRPr>
          </a:p>
        </p:txBody>
      </p:sp>
      <p:sp>
        <p:nvSpPr>
          <p:cNvPr id="7" name="object 7"/>
          <p:cNvSpPr txBox="1"/>
          <p:nvPr/>
        </p:nvSpPr>
        <p:spPr>
          <a:xfrm>
            <a:off x="3866429" y="4997526"/>
            <a:ext cx="1597025" cy="566822"/>
          </a:xfrm>
          <a:prstGeom prst="rect">
            <a:avLst/>
          </a:prstGeom>
        </p:spPr>
        <p:txBody>
          <a:bodyPr vert="horz" wrap="square" lIns="0" tIns="12700" rIns="0" bIns="0" rtlCol="0" anchor="t">
            <a:spAutoFit/>
          </a:bodyPr>
          <a:lstStyle/>
          <a:p>
            <a:pPr algn="ctr">
              <a:spcBef>
                <a:spcPts val="5"/>
              </a:spcBef>
            </a:pPr>
            <a:r>
              <a:rPr lang="en-US" i="1" spc="-280">
                <a:latin typeface="Verdana"/>
                <a:cs typeface="Verdana"/>
              </a:rPr>
              <a:t>Neha </a:t>
            </a:r>
            <a:r>
              <a:rPr lang="en-US" i="1" spc="-280" err="1">
                <a:latin typeface="Verdana"/>
                <a:cs typeface="Verdana"/>
              </a:rPr>
              <a:t>Sutariya</a:t>
            </a:r>
            <a:br>
              <a:rPr lang="en-US" i="1" spc="-280">
                <a:latin typeface="Verdana"/>
                <a:ea typeface="Verdana"/>
                <a:cs typeface="Verdana"/>
              </a:rPr>
            </a:br>
            <a:r>
              <a:rPr lang="en-US" i="1" spc="-280">
                <a:latin typeface="Verdana"/>
                <a:ea typeface="Verdana"/>
                <a:cs typeface="Verdana"/>
              </a:rPr>
              <a:t>20021648</a:t>
            </a:r>
            <a:endParaRPr lang="en-US" sz="1800" i="1" spc="-280">
              <a:latin typeface="Verdana"/>
              <a:ea typeface="Verdana"/>
              <a:cs typeface="Verdana"/>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2</a:t>
            </a:fld>
            <a:endParaRPr/>
          </a:p>
        </p:txBody>
      </p:sp>
      <p:pic>
        <p:nvPicPr>
          <p:cNvPr id="10" name="Picture 9" descr="A person wearing glasses and a white shirt&#10;&#10;Description automatically generated">
            <a:extLst>
              <a:ext uri="{FF2B5EF4-FFF2-40B4-BE49-F238E27FC236}">
                <a16:creationId xmlns:a16="http://schemas.microsoft.com/office/drawing/2014/main" id="{5915CBBD-3E29-54BA-0896-602CF66C9A11}"/>
              </a:ext>
            </a:extLst>
          </p:cNvPr>
          <p:cNvPicPr>
            <a:picLocks noChangeAspect="1"/>
          </p:cNvPicPr>
          <p:nvPr/>
        </p:nvPicPr>
        <p:blipFill>
          <a:blip r:embed="rId2"/>
          <a:stretch>
            <a:fillRect/>
          </a:stretch>
        </p:blipFill>
        <p:spPr>
          <a:xfrm>
            <a:off x="6599161" y="1525858"/>
            <a:ext cx="2259392" cy="3044284"/>
          </a:xfrm>
          <a:prstGeom prst="rect">
            <a:avLst/>
          </a:prstGeom>
        </p:spPr>
      </p:pic>
      <p:pic>
        <p:nvPicPr>
          <p:cNvPr id="11" name="Picture 10" descr="A person standing next to a door&#10;&#10;Description automatically generated">
            <a:extLst>
              <a:ext uri="{FF2B5EF4-FFF2-40B4-BE49-F238E27FC236}">
                <a16:creationId xmlns:a16="http://schemas.microsoft.com/office/drawing/2014/main" id="{50045B47-177B-239C-C086-E9989B7319E8}"/>
              </a:ext>
            </a:extLst>
          </p:cNvPr>
          <p:cNvPicPr>
            <a:picLocks noChangeAspect="1"/>
          </p:cNvPicPr>
          <p:nvPr/>
        </p:nvPicPr>
        <p:blipFill rotWithShape="1">
          <a:blip r:embed="rId3"/>
          <a:srcRect l="18062" t="6522" r="16300" b="7391"/>
          <a:stretch/>
        </p:blipFill>
        <p:spPr>
          <a:xfrm>
            <a:off x="878115" y="1582542"/>
            <a:ext cx="2296510" cy="3053016"/>
          </a:xfrm>
          <a:prstGeom prst="rect">
            <a:avLst/>
          </a:prstGeom>
        </p:spPr>
      </p:pic>
      <p:pic>
        <p:nvPicPr>
          <p:cNvPr id="4" name="Picture 3" descr="A person standing on a ledge with a body of water in the background&#10;&#10;Description automatically generated">
            <a:extLst>
              <a:ext uri="{FF2B5EF4-FFF2-40B4-BE49-F238E27FC236}">
                <a16:creationId xmlns:a16="http://schemas.microsoft.com/office/drawing/2014/main" id="{550DAFB9-6D58-0DAC-06A5-53528F87643C}"/>
              </a:ext>
            </a:extLst>
          </p:cNvPr>
          <p:cNvPicPr>
            <a:picLocks noChangeAspect="1"/>
          </p:cNvPicPr>
          <p:nvPr/>
        </p:nvPicPr>
        <p:blipFill rotWithShape="1">
          <a:blip r:embed="rId4"/>
          <a:srcRect l="4846" r="2643" b="-443"/>
          <a:stretch/>
        </p:blipFill>
        <p:spPr>
          <a:xfrm>
            <a:off x="3580080" y="1765641"/>
            <a:ext cx="2537765" cy="275533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7188" y="1634167"/>
            <a:ext cx="4771561" cy="3870290"/>
          </a:xfrm>
          <a:prstGeom prst="rect">
            <a:avLst/>
          </a:prstGeom>
        </p:spPr>
        <p:txBody>
          <a:bodyPr vert="horz" wrap="square" lIns="0" tIns="104140" rIns="0" bIns="0" rtlCol="0" anchor="t">
            <a:spAutoFit/>
          </a:bodyPr>
          <a:lstStyle/>
          <a:p>
            <a:pPr marL="412750" indent="-400050">
              <a:lnSpc>
                <a:spcPct val="100000"/>
              </a:lnSpc>
              <a:spcBef>
                <a:spcPts val="820"/>
              </a:spcBef>
              <a:buAutoNum type="arabicPeriod"/>
              <a:tabLst>
                <a:tab pos="412115" algn="l"/>
                <a:tab pos="412750" algn="l"/>
              </a:tabLst>
            </a:pPr>
            <a:r>
              <a:rPr sz="1800" spc="-5">
                <a:latin typeface="Times New Roman"/>
                <a:cs typeface="Times New Roman"/>
              </a:rPr>
              <a:t>Dataset</a:t>
            </a:r>
            <a:r>
              <a:rPr sz="1800" spc="-50">
                <a:latin typeface="Times New Roman"/>
                <a:cs typeface="Times New Roman"/>
              </a:rPr>
              <a:t> </a:t>
            </a:r>
            <a:r>
              <a:rPr sz="1800" spc="-5">
                <a:latin typeface="Times New Roman"/>
                <a:cs typeface="Times New Roman"/>
              </a:rPr>
              <a:t>Description</a:t>
            </a:r>
            <a:endParaRPr sz="1800">
              <a:latin typeface="Times New Roman"/>
              <a:cs typeface="Times New Roman"/>
            </a:endParaRPr>
          </a:p>
          <a:p>
            <a:pPr marL="412750" indent="-400050">
              <a:lnSpc>
                <a:spcPct val="100000"/>
              </a:lnSpc>
              <a:spcBef>
                <a:spcPts val="720"/>
              </a:spcBef>
              <a:buAutoNum type="arabicPeriod"/>
              <a:tabLst>
                <a:tab pos="412115" algn="l"/>
                <a:tab pos="412750" algn="l"/>
              </a:tabLst>
            </a:pPr>
            <a:r>
              <a:rPr sz="1800" spc="-5">
                <a:latin typeface="Times New Roman"/>
                <a:cs typeface="Times New Roman"/>
              </a:rPr>
              <a:t>Objective</a:t>
            </a:r>
            <a:endParaRPr sz="1800">
              <a:latin typeface="Times New Roman"/>
              <a:cs typeface="Times New Roman"/>
            </a:endParaRPr>
          </a:p>
          <a:p>
            <a:pPr marL="412750" indent="-400050">
              <a:lnSpc>
                <a:spcPct val="100000"/>
              </a:lnSpc>
              <a:spcBef>
                <a:spcPts val="720"/>
              </a:spcBef>
              <a:buAutoNum type="arabicPeriod"/>
              <a:tabLst>
                <a:tab pos="412115" algn="l"/>
                <a:tab pos="412750" algn="l"/>
              </a:tabLst>
            </a:pPr>
            <a:r>
              <a:rPr sz="1800" spc="-5">
                <a:latin typeface="Times New Roman"/>
                <a:cs typeface="Times New Roman"/>
              </a:rPr>
              <a:t>ED</a:t>
            </a:r>
            <a:r>
              <a:rPr sz="1800">
                <a:latin typeface="Times New Roman"/>
                <a:cs typeface="Times New Roman"/>
              </a:rPr>
              <a:t>A</a:t>
            </a:r>
            <a:r>
              <a:rPr sz="1800" spc="-105">
                <a:latin typeface="Times New Roman"/>
                <a:cs typeface="Times New Roman"/>
              </a:rPr>
              <a:t> </a:t>
            </a:r>
            <a:r>
              <a:rPr sz="1800">
                <a:latin typeface="Times New Roman"/>
                <a:cs typeface="Times New Roman"/>
              </a:rPr>
              <a:t>- </a:t>
            </a:r>
            <a:r>
              <a:rPr sz="1800" spc="-5">
                <a:latin typeface="Times New Roman"/>
                <a:cs typeface="Times New Roman"/>
              </a:rPr>
              <a:t>Explorator</a:t>
            </a:r>
            <a:r>
              <a:rPr sz="1800">
                <a:latin typeface="Times New Roman"/>
                <a:cs typeface="Times New Roman"/>
              </a:rPr>
              <a:t>y</a:t>
            </a:r>
            <a:r>
              <a:rPr sz="1800" spc="-5">
                <a:latin typeface="Times New Roman"/>
                <a:cs typeface="Times New Roman"/>
              </a:rPr>
              <a:t> Dat</a:t>
            </a:r>
            <a:r>
              <a:rPr sz="1800">
                <a:latin typeface="Times New Roman"/>
                <a:cs typeface="Times New Roman"/>
              </a:rPr>
              <a:t>a</a:t>
            </a:r>
            <a:r>
              <a:rPr sz="1800" spc="-100">
                <a:latin typeface="Times New Roman"/>
                <a:cs typeface="Times New Roman"/>
              </a:rPr>
              <a:t> </a:t>
            </a:r>
            <a:r>
              <a:rPr sz="1800" spc="-5">
                <a:latin typeface="Times New Roman"/>
                <a:cs typeface="Times New Roman"/>
              </a:rPr>
              <a:t>Analysis</a:t>
            </a:r>
            <a:endParaRPr sz="1800">
              <a:latin typeface="Times New Roman"/>
              <a:cs typeface="Times New Roman"/>
            </a:endParaRPr>
          </a:p>
          <a:p>
            <a:pPr marL="412750" indent="-400050">
              <a:lnSpc>
                <a:spcPct val="100000"/>
              </a:lnSpc>
              <a:spcBef>
                <a:spcPts val="720"/>
              </a:spcBef>
              <a:buAutoNum type="arabicPeriod"/>
              <a:tabLst>
                <a:tab pos="412115" algn="l"/>
                <a:tab pos="412750" algn="l"/>
              </a:tabLst>
            </a:pPr>
            <a:r>
              <a:rPr sz="1800" spc="-5">
                <a:latin typeface="Times New Roman"/>
                <a:cs typeface="Times New Roman"/>
              </a:rPr>
              <a:t>Classification</a:t>
            </a:r>
            <a:r>
              <a:rPr sz="1800" spc="-35">
                <a:latin typeface="Times New Roman"/>
                <a:cs typeface="Times New Roman"/>
              </a:rPr>
              <a:t> </a:t>
            </a:r>
            <a:r>
              <a:rPr sz="1800" spc="-5">
                <a:latin typeface="Times New Roman"/>
                <a:cs typeface="Times New Roman"/>
              </a:rPr>
              <a:t>algorithms</a:t>
            </a:r>
            <a:r>
              <a:rPr sz="1800" spc="-30">
                <a:latin typeface="Times New Roman"/>
                <a:cs typeface="Times New Roman"/>
              </a:rPr>
              <a:t> </a:t>
            </a:r>
            <a:r>
              <a:rPr sz="1800">
                <a:latin typeface="Times New Roman"/>
                <a:cs typeface="Times New Roman"/>
              </a:rPr>
              <a:t>used</a:t>
            </a:r>
          </a:p>
          <a:p>
            <a:pPr marL="869950" lvl="1" indent="-369570">
              <a:lnSpc>
                <a:spcPct val="100000"/>
              </a:lnSpc>
              <a:spcBef>
                <a:spcPts val="365"/>
              </a:spcBef>
              <a:buAutoNum type="alphaLcPeriod"/>
              <a:tabLst>
                <a:tab pos="869315" algn="l"/>
                <a:tab pos="869950" algn="l"/>
              </a:tabLst>
            </a:pPr>
            <a:r>
              <a:rPr sz="1600" spc="-5">
                <a:latin typeface="Times New Roman"/>
                <a:cs typeface="Times New Roman"/>
              </a:rPr>
              <a:t>KNN</a:t>
            </a:r>
            <a:r>
              <a:rPr sz="1600" spc="-50">
                <a:latin typeface="Times New Roman"/>
                <a:cs typeface="Times New Roman"/>
              </a:rPr>
              <a:t> </a:t>
            </a:r>
            <a:r>
              <a:rPr sz="1600" spc="-5">
                <a:latin typeface="Times New Roman"/>
                <a:cs typeface="Times New Roman"/>
              </a:rPr>
              <a:t>Methodology</a:t>
            </a:r>
            <a:endParaRPr sz="1600">
              <a:latin typeface="Times New Roman"/>
              <a:cs typeface="Times New Roman"/>
            </a:endParaRPr>
          </a:p>
          <a:p>
            <a:pPr marL="869950" lvl="1" indent="-381000">
              <a:buAutoNum type="alphaLcPeriod"/>
              <a:tabLst>
                <a:tab pos="869315" algn="l"/>
                <a:tab pos="869950" algn="l"/>
              </a:tabLst>
            </a:pPr>
            <a:r>
              <a:rPr lang="en-US" sz="1600" spc="-5">
                <a:latin typeface="Times New Roman"/>
                <a:cs typeface="Times New Roman"/>
              </a:rPr>
              <a:t>Distance based</a:t>
            </a:r>
            <a:endParaRPr sz="1600" spc="-5">
              <a:latin typeface="Times New Roman"/>
              <a:cs typeface="Times New Roman"/>
            </a:endParaRPr>
          </a:p>
          <a:p>
            <a:pPr marL="869950" lvl="1" indent="-369570">
              <a:lnSpc>
                <a:spcPct val="100000"/>
              </a:lnSpc>
              <a:buAutoNum type="alphaLcPeriod"/>
              <a:tabLst>
                <a:tab pos="869315" algn="l"/>
                <a:tab pos="869950" algn="l"/>
              </a:tabLst>
            </a:pPr>
            <a:r>
              <a:rPr sz="1600" spc="-5">
                <a:latin typeface="Times New Roman"/>
                <a:cs typeface="Times New Roman"/>
              </a:rPr>
              <a:t>Gaussian</a:t>
            </a:r>
            <a:r>
              <a:rPr sz="1600" spc="-35">
                <a:latin typeface="Times New Roman"/>
                <a:cs typeface="Times New Roman"/>
              </a:rPr>
              <a:t> </a:t>
            </a:r>
            <a:r>
              <a:rPr sz="1600" spc="-5">
                <a:latin typeface="Times New Roman"/>
                <a:cs typeface="Times New Roman"/>
              </a:rPr>
              <a:t>Naive</a:t>
            </a:r>
            <a:r>
              <a:rPr sz="1600" spc="-30">
                <a:latin typeface="Times New Roman"/>
                <a:cs typeface="Times New Roman"/>
              </a:rPr>
              <a:t> </a:t>
            </a:r>
            <a:r>
              <a:rPr sz="1600" spc="-5">
                <a:latin typeface="Times New Roman"/>
                <a:cs typeface="Times New Roman"/>
              </a:rPr>
              <a:t>Bayes</a:t>
            </a:r>
            <a:endParaRPr sz="1600">
              <a:latin typeface="Times New Roman"/>
              <a:cs typeface="Times New Roman"/>
            </a:endParaRPr>
          </a:p>
          <a:p>
            <a:pPr marL="869950" lvl="1" indent="-381000">
              <a:lnSpc>
                <a:spcPct val="100000"/>
              </a:lnSpc>
              <a:buAutoNum type="alphaLcPeriod"/>
              <a:tabLst>
                <a:tab pos="869315" algn="l"/>
                <a:tab pos="869950" algn="l"/>
              </a:tabLst>
            </a:pPr>
            <a:r>
              <a:rPr sz="1600" spc="-5">
                <a:latin typeface="Times New Roman"/>
                <a:cs typeface="Times New Roman"/>
              </a:rPr>
              <a:t>Artificial</a:t>
            </a:r>
            <a:r>
              <a:rPr sz="1600" spc="-35">
                <a:latin typeface="Times New Roman"/>
                <a:cs typeface="Times New Roman"/>
              </a:rPr>
              <a:t> </a:t>
            </a:r>
            <a:r>
              <a:rPr sz="1600" spc="-5">
                <a:latin typeface="Times New Roman"/>
                <a:cs typeface="Times New Roman"/>
              </a:rPr>
              <a:t>Neural</a:t>
            </a:r>
            <a:r>
              <a:rPr sz="1600" spc="-30">
                <a:latin typeface="Times New Roman"/>
                <a:cs typeface="Times New Roman"/>
              </a:rPr>
              <a:t> </a:t>
            </a:r>
            <a:r>
              <a:rPr sz="1600" spc="-5">
                <a:latin typeface="Times New Roman"/>
                <a:cs typeface="Times New Roman"/>
              </a:rPr>
              <a:t>Network</a:t>
            </a:r>
            <a:endParaRPr sz="1600">
              <a:latin typeface="Times New Roman"/>
              <a:cs typeface="Times New Roman"/>
            </a:endParaRPr>
          </a:p>
          <a:p>
            <a:pPr marL="869950" lvl="1" indent="-369570">
              <a:lnSpc>
                <a:spcPct val="100000"/>
              </a:lnSpc>
              <a:buAutoNum type="alphaLcPeriod"/>
              <a:tabLst>
                <a:tab pos="869315" algn="l"/>
                <a:tab pos="869950" algn="l"/>
              </a:tabLst>
            </a:pPr>
            <a:r>
              <a:rPr sz="1600" spc="-5">
                <a:latin typeface="Times New Roman"/>
                <a:cs typeface="Times New Roman"/>
              </a:rPr>
              <a:t>Decision</a:t>
            </a:r>
            <a:r>
              <a:rPr sz="1600" spc="-50">
                <a:latin typeface="Times New Roman"/>
                <a:cs typeface="Times New Roman"/>
              </a:rPr>
              <a:t> </a:t>
            </a:r>
            <a:r>
              <a:rPr sz="1600" spc="-15">
                <a:latin typeface="Times New Roman"/>
                <a:cs typeface="Times New Roman"/>
              </a:rPr>
              <a:t>Trees</a:t>
            </a:r>
            <a:r>
              <a:rPr sz="1600" spc="-25">
                <a:latin typeface="Times New Roman"/>
                <a:cs typeface="Times New Roman"/>
              </a:rPr>
              <a:t> </a:t>
            </a:r>
            <a:r>
              <a:rPr sz="1600" spc="-20">
                <a:latin typeface="Times New Roman"/>
                <a:cs typeface="Times New Roman"/>
              </a:rPr>
              <a:t>(CART)</a:t>
            </a:r>
            <a:endParaRPr sz="1600">
              <a:latin typeface="Times New Roman"/>
              <a:cs typeface="Times New Roman"/>
            </a:endParaRPr>
          </a:p>
          <a:p>
            <a:pPr marL="869950" lvl="1" indent="-347345">
              <a:buAutoNum type="alphaLcPeriod"/>
              <a:tabLst>
                <a:tab pos="869315" algn="l"/>
                <a:tab pos="869950" algn="l"/>
              </a:tabLst>
            </a:pPr>
            <a:r>
              <a:rPr lang="en-US" sz="1600" spc="-15">
                <a:latin typeface="Times New Roman"/>
                <a:cs typeface="Times New Roman"/>
              </a:rPr>
              <a:t>Tree Based</a:t>
            </a:r>
            <a:endParaRPr sz="1600">
              <a:latin typeface="Times New Roman"/>
              <a:cs typeface="Times New Roman"/>
            </a:endParaRPr>
          </a:p>
          <a:p>
            <a:pPr marL="869950" lvl="1" indent="-381000">
              <a:buAutoNum type="alphaLcPeriod"/>
              <a:tabLst>
                <a:tab pos="869315" algn="l"/>
                <a:tab pos="869950" algn="l"/>
              </a:tabLst>
            </a:pPr>
            <a:r>
              <a:rPr lang="en-US" sz="1600" spc="-5">
                <a:latin typeface="Times New Roman"/>
                <a:cs typeface="Times New Roman"/>
              </a:rPr>
              <a:t>Non tree based (Using </a:t>
            </a:r>
            <a:r>
              <a:rPr lang="en-US" sz="1600" spc="-5">
                <a:latin typeface="Times New Roman"/>
                <a:cs typeface="Calibri"/>
              </a:rPr>
              <a:t>Logistic Regression</a:t>
            </a:r>
            <a:r>
              <a:rPr lang="en-US" sz="1600" spc="-5">
                <a:latin typeface="Times New Roman"/>
                <a:cs typeface="Times New Roman"/>
              </a:rPr>
              <a:t>)</a:t>
            </a:r>
          </a:p>
          <a:p>
            <a:pPr marL="869950" lvl="1" indent="-381000">
              <a:buAutoNum type="alphaLcPeriod"/>
              <a:tabLst>
                <a:tab pos="869315" algn="l"/>
                <a:tab pos="869950" algn="l"/>
              </a:tabLst>
            </a:pPr>
            <a:r>
              <a:rPr lang="en-US" sz="1600" spc="-5">
                <a:latin typeface="Times New Roman"/>
                <a:cs typeface="Times New Roman"/>
              </a:rPr>
              <a:t>Non tree based (Using K-nearest neighbors)</a:t>
            </a:r>
          </a:p>
          <a:p>
            <a:pPr marL="412750" indent="-400050">
              <a:lnSpc>
                <a:spcPct val="100000"/>
              </a:lnSpc>
              <a:spcBef>
                <a:spcPts val="715"/>
              </a:spcBef>
              <a:buAutoNum type="arabicPeriod"/>
              <a:tabLst>
                <a:tab pos="412115" algn="l"/>
                <a:tab pos="412750" algn="l"/>
              </a:tabLst>
            </a:pPr>
            <a:r>
              <a:rPr sz="1800" spc="-5">
                <a:latin typeface="Times New Roman"/>
                <a:cs typeface="Times New Roman"/>
              </a:rPr>
              <a:t>Conclusion</a:t>
            </a:r>
            <a:endParaRPr sz="18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3</a:t>
            </a:fld>
            <a:endParaRPr/>
          </a:p>
        </p:txBody>
      </p:sp>
      <p:sp>
        <p:nvSpPr>
          <p:cNvPr id="3" name="object 3"/>
          <p:cNvSpPr txBox="1">
            <a:spLocks noGrp="1"/>
          </p:cNvSpPr>
          <p:nvPr>
            <p:ph type="title"/>
          </p:nvPr>
        </p:nvSpPr>
        <p:spPr>
          <a:xfrm>
            <a:off x="300038" y="428512"/>
            <a:ext cx="1485900" cy="482600"/>
          </a:xfrm>
          <a:prstGeom prst="rect">
            <a:avLst/>
          </a:prstGeom>
        </p:spPr>
        <p:txBody>
          <a:bodyPr vert="horz" wrap="square" lIns="0" tIns="12700" rIns="0" bIns="0" rtlCol="0">
            <a:spAutoFit/>
          </a:bodyPr>
          <a:lstStyle/>
          <a:p>
            <a:pPr marL="12700">
              <a:lnSpc>
                <a:spcPct val="100000"/>
              </a:lnSpc>
              <a:spcBef>
                <a:spcPts val="100"/>
              </a:spcBef>
            </a:pPr>
            <a:r>
              <a:rPr spc="-5"/>
              <a:t>Contents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23637" y="2079052"/>
            <a:ext cx="2692400" cy="1092200"/>
          </a:xfrm>
          <a:prstGeom prst="rect">
            <a:avLst/>
          </a:prstGeom>
        </p:spPr>
        <p:txBody>
          <a:bodyPr vert="horz" wrap="square" lIns="0" tIns="12700" rIns="0" bIns="0" rtlCol="0">
            <a:spAutoFit/>
          </a:bodyPr>
          <a:lstStyle/>
          <a:p>
            <a:pPr marL="302895" indent="-290830">
              <a:lnSpc>
                <a:spcPct val="100000"/>
              </a:lnSpc>
              <a:spcBef>
                <a:spcPts val="100"/>
              </a:spcBef>
              <a:buChar char="•"/>
              <a:tabLst>
                <a:tab pos="302895" algn="l"/>
                <a:tab pos="303530" algn="l"/>
              </a:tabLst>
            </a:pPr>
            <a:r>
              <a:rPr sz="1400" spc="-5">
                <a:latin typeface="Times New Roman"/>
                <a:cs typeface="Times New Roman"/>
              </a:rPr>
              <a:t>Number</a:t>
            </a:r>
            <a:r>
              <a:rPr sz="1400" spc="-25">
                <a:latin typeface="Times New Roman"/>
                <a:cs typeface="Times New Roman"/>
              </a:rPr>
              <a:t> </a:t>
            </a:r>
            <a:r>
              <a:rPr sz="1400">
                <a:latin typeface="Times New Roman"/>
                <a:cs typeface="Times New Roman"/>
              </a:rPr>
              <a:t>of</a:t>
            </a:r>
            <a:r>
              <a:rPr sz="1400" spc="-15">
                <a:latin typeface="Times New Roman"/>
                <a:cs typeface="Times New Roman"/>
              </a:rPr>
              <a:t> </a:t>
            </a:r>
            <a:r>
              <a:rPr sz="1400" spc="-5">
                <a:latin typeface="Times New Roman"/>
                <a:cs typeface="Times New Roman"/>
              </a:rPr>
              <a:t>columns</a:t>
            </a:r>
            <a:r>
              <a:rPr sz="1400" spc="-25">
                <a:latin typeface="Times New Roman"/>
                <a:cs typeface="Times New Roman"/>
              </a:rPr>
              <a:t> </a:t>
            </a:r>
            <a:r>
              <a:rPr sz="1400">
                <a:latin typeface="Times New Roman"/>
                <a:cs typeface="Times New Roman"/>
              </a:rPr>
              <a:t>-</a:t>
            </a:r>
            <a:r>
              <a:rPr sz="1400" spc="-15">
                <a:latin typeface="Times New Roman"/>
                <a:cs typeface="Times New Roman"/>
              </a:rPr>
              <a:t> </a:t>
            </a:r>
            <a:r>
              <a:rPr lang="en-US" sz="1400" spc="-15">
                <a:latin typeface="Times New Roman"/>
                <a:cs typeface="Times New Roman"/>
              </a:rPr>
              <a:t>12</a:t>
            </a:r>
            <a:endParaRPr sz="1400">
              <a:latin typeface="Times New Roman"/>
              <a:cs typeface="Times New Roman"/>
            </a:endParaRPr>
          </a:p>
          <a:p>
            <a:pPr marL="302895" indent="-290830">
              <a:lnSpc>
                <a:spcPct val="100000"/>
              </a:lnSpc>
              <a:buChar char="•"/>
              <a:tabLst>
                <a:tab pos="302895" algn="l"/>
                <a:tab pos="303530" algn="l"/>
              </a:tabLst>
            </a:pPr>
            <a:r>
              <a:rPr sz="1400" spc="-5">
                <a:latin typeface="Times New Roman"/>
                <a:cs typeface="Times New Roman"/>
              </a:rPr>
              <a:t>Number</a:t>
            </a:r>
            <a:r>
              <a:rPr sz="1400" spc="-25">
                <a:latin typeface="Times New Roman"/>
                <a:cs typeface="Times New Roman"/>
              </a:rPr>
              <a:t> </a:t>
            </a:r>
            <a:r>
              <a:rPr sz="1400">
                <a:latin typeface="Times New Roman"/>
                <a:cs typeface="Times New Roman"/>
              </a:rPr>
              <a:t>of</a:t>
            </a:r>
            <a:r>
              <a:rPr sz="1400" spc="-20">
                <a:latin typeface="Times New Roman"/>
                <a:cs typeface="Times New Roman"/>
              </a:rPr>
              <a:t> </a:t>
            </a:r>
            <a:r>
              <a:rPr sz="1400">
                <a:latin typeface="Times New Roman"/>
                <a:cs typeface="Times New Roman"/>
              </a:rPr>
              <a:t>rows</a:t>
            </a:r>
            <a:r>
              <a:rPr sz="1400" spc="-15">
                <a:latin typeface="Times New Roman"/>
                <a:cs typeface="Times New Roman"/>
              </a:rPr>
              <a:t> </a:t>
            </a:r>
            <a:r>
              <a:rPr sz="1400">
                <a:latin typeface="Times New Roman"/>
                <a:cs typeface="Times New Roman"/>
              </a:rPr>
              <a:t>-</a:t>
            </a:r>
            <a:r>
              <a:rPr sz="1400" spc="-20">
                <a:latin typeface="Times New Roman"/>
                <a:cs typeface="Times New Roman"/>
              </a:rPr>
              <a:t> </a:t>
            </a:r>
            <a:r>
              <a:rPr lang="en-US" sz="1400" spc="-20">
                <a:latin typeface="Times New Roman"/>
                <a:cs typeface="Times New Roman"/>
              </a:rPr>
              <a:t>918</a:t>
            </a:r>
            <a:endParaRPr sz="1400">
              <a:latin typeface="Times New Roman"/>
              <a:cs typeface="Times New Roman"/>
            </a:endParaRPr>
          </a:p>
          <a:p>
            <a:pPr marL="302895" indent="-290830">
              <a:lnSpc>
                <a:spcPct val="100000"/>
              </a:lnSpc>
              <a:buChar char="•"/>
              <a:tabLst>
                <a:tab pos="302895" algn="l"/>
                <a:tab pos="303530" algn="l"/>
              </a:tabLst>
            </a:pPr>
            <a:r>
              <a:rPr sz="1400" spc="-5">
                <a:latin typeface="Times New Roman"/>
                <a:cs typeface="Times New Roman"/>
              </a:rPr>
              <a:t>Categorical</a:t>
            </a:r>
            <a:r>
              <a:rPr sz="1400" spc="-40">
                <a:latin typeface="Times New Roman"/>
                <a:cs typeface="Times New Roman"/>
              </a:rPr>
              <a:t> </a:t>
            </a:r>
            <a:r>
              <a:rPr sz="1400">
                <a:latin typeface="Times New Roman"/>
                <a:cs typeface="Times New Roman"/>
              </a:rPr>
              <a:t>rows</a:t>
            </a:r>
            <a:r>
              <a:rPr sz="1400" spc="-30">
                <a:latin typeface="Times New Roman"/>
                <a:cs typeface="Times New Roman"/>
              </a:rPr>
              <a:t> </a:t>
            </a:r>
            <a:r>
              <a:rPr sz="1400">
                <a:latin typeface="Times New Roman"/>
                <a:cs typeface="Times New Roman"/>
              </a:rPr>
              <a:t>-</a:t>
            </a:r>
            <a:r>
              <a:rPr sz="1400" spc="-30">
                <a:latin typeface="Times New Roman"/>
                <a:cs typeface="Times New Roman"/>
              </a:rPr>
              <a:t> </a:t>
            </a:r>
            <a:r>
              <a:rPr lang="en-US" sz="1400" spc="-30">
                <a:latin typeface="Times New Roman"/>
                <a:cs typeface="Times New Roman"/>
              </a:rPr>
              <a:t>5</a:t>
            </a:r>
            <a:endParaRPr sz="1400">
              <a:latin typeface="Times New Roman"/>
              <a:cs typeface="Times New Roman"/>
            </a:endParaRPr>
          </a:p>
          <a:p>
            <a:pPr marL="302895" indent="-290830">
              <a:lnSpc>
                <a:spcPct val="100000"/>
              </a:lnSpc>
              <a:buChar char="•"/>
              <a:tabLst>
                <a:tab pos="302895" algn="l"/>
                <a:tab pos="303530" algn="l"/>
              </a:tabLst>
            </a:pPr>
            <a:r>
              <a:rPr sz="1400" spc="-5">
                <a:latin typeface="Times New Roman"/>
                <a:cs typeface="Times New Roman"/>
              </a:rPr>
              <a:t>Numerical</a:t>
            </a:r>
            <a:r>
              <a:rPr sz="1400" spc="-40">
                <a:latin typeface="Times New Roman"/>
                <a:cs typeface="Times New Roman"/>
              </a:rPr>
              <a:t> </a:t>
            </a:r>
            <a:r>
              <a:rPr sz="1400">
                <a:latin typeface="Times New Roman"/>
                <a:cs typeface="Times New Roman"/>
              </a:rPr>
              <a:t>rows</a:t>
            </a:r>
            <a:r>
              <a:rPr sz="1400" spc="-30">
                <a:latin typeface="Times New Roman"/>
                <a:cs typeface="Times New Roman"/>
              </a:rPr>
              <a:t> </a:t>
            </a:r>
            <a:r>
              <a:rPr sz="1400">
                <a:latin typeface="Times New Roman"/>
                <a:cs typeface="Times New Roman"/>
              </a:rPr>
              <a:t>-</a:t>
            </a:r>
            <a:r>
              <a:rPr sz="1400" spc="-30">
                <a:latin typeface="Times New Roman"/>
                <a:cs typeface="Times New Roman"/>
              </a:rPr>
              <a:t> </a:t>
            </a:r>
            <a:r>
              <a:rPr lang="en-US" sz="1400" spc="-30">
                <a:latin typeface="Times New Roman"/>
                <a:cs typeface="Times New Roman"/>
              </a:rPr>
              <a:t>7</a:t>
            </a:r>
            <a:endParaRPr sz="1400">
              <a:latin typeface="Times New Roman"/>
              <a:cs typeface="Times New Roman"/>
            </a:endParaRPr>
          </a:p>
          <a:p>
            <a:pPr marL="302895" indent="-290830">
              <a:lnSpc>
                <a:spcPct val="100000"/>
              </a:lnSpc>
              <a:buChar char="•"/>
              <a:tabLst>
                <a:tab pos="302895" algn="l"/>
                <a:tab pos="303530" algn="l"/>
              </a:tabLst>
            </a:pPr>
            <a:r>
              <a:rPr sz="1400" spc="-25">
                <a:latin typeface="Times New Roman"/>
                <a:cs typeface="Times New Roman"/>
              </a:rPr>
              <a:t>Target</a:t>
            </a:r>
            <a:r>
              <a:rPr sz="1400" spc="-15">
                <a:latin typeface="Times New Roman"/>
                <a:cs typeface="Times New Roman"/>
              </a:rPr>
              <a:t> </a:t>
            </a:r>
            <a:r>
              <a:rPr sz="1400" spc="-5">
                <a:latin typeface="Times New Roman"/>
                <a:cs typeface="Times New Roman"/>
              </a:rPr>
              <a:t>Feature</a:t>
            </a:r>
            <a:r>
              <a:rPr sz="1400" spc="-15">
                <a:latin typeface="Times New Roman"/>
                <a:cs typeface="Times New Roman"/>
              </a:rPr>
              <a:t> </a:t>
            </a:r>
            <a:r>
              <a:rPr sz="1400">
                <a:latin typeface="Times New Roman"/>
                <a:cs typeface="Times New Roman"/>
              </a:rPr>
              <a:t>-</a:t>
            </a:r>
            <a:r>
              <a:rPr sz="1400" spc="-10">
                <a:latin typeface="Times New Roman"/>
                <a:cs typeface="Times New Roman"/>
              </a:rPr>
              <a:t> ‘RainTomorrow’</a:t>
            </a:r>
            <a:endParaRPr sz="140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4</a:t>
            </a:fld>
            <a:endParaRPr/>
          </a:p>
        </p:txBody>
      </p:sp>
      <p:sp>
        <p:nvSpPr>
          <p:cNvPr id="7" name="object 7"/>
          <p:cNvSpPr txBox="1">
            <a:spLocks noGrp="1"/>
          </p:cNvSpPr>
          <p:nvPr>
            <p:ph type="title"/>
          </p:nvPr>
        </p:nvSpPr>
        <p:spPr>
          <a:xfrm>
            <a:off x="300038" y="428512"/>
            <a:ext cx="3166745" cy="482600"/>
          </a:xfrm>
          <a:prstGeom prst="rect">
            <a:avLst/>
          </a:prstGeom>
        </p:spPr>
        <p:txBody>
          <a:bodyPr vert="horz" wrap="square" lIns="0" tIns="12700" rIns="0" bIns="0" rtlCol="0">
            <a:spAutoFit/>
          </a:bodyPr>
          <a:lstStyle/>
          <a:p>
            <a:pPr marL="12700">
              <a:lnSpc>
                <a:spcPct val="100000"/>
              </a:lnSpc>
              <a:spcBef>
                <a:spcPts val="100"/>
              </a:spcBef>
            </a:pPr>
            <a:r>
              <a:rPr spc="-5"/>
              <a:t>Dataset</a:t>
            </a:r>
            <a:r>
              <a:rPr spc="-85"/>
              <a:t> </a:t>
            </a:r>
            <a:r>
              <a:rPr spc="-5"/>
              <a:t>description</a:t>
            </a:r>
          </a:p>
        </p:txBody>
      </p:sp>
      <p:sp>
        <p:nvSpPr>
          <p:cNvPr id="8" name="object 8"/>
          <p:cNvSpPr txBox="1"/>
          <p:nvPr/>
        </p:nvSpPr>
        <p:spPr>
          <a:xfrm>
            <a:off x="4343400" y="1970321"/>
            <a:ext cx="1337936" cy="1703030"/>
          </a:xfrm>
          <a:prstGeom prst="rect">
            <a:avLst/>
          </a:prstGeom>
        </p:spPr>
        <p:txBody>
          <a:bodyPr vert="horz" wrap="square" lIns="0" tIns="12700" rIns="0" bIns="0" rtlCol="0">
            <a:spAutoFit/>
          </a:bodyPr>
          <a:lstStyle/>
          <a:p>
            <a:pPr marL="12700">
              <a:lnSpc>
                <a:spcPct val="100000"/>
              </a:lnSpc>
              <a:spcBef>
                <a:spcPts val="100"/>
              </a:spcBef>
              <a:tabLst>
                <a:tab pos="298450" algn="l"/>
                <a:tab pos="299085" algn="l"/>
              </a:tabLst>
            </a:pPr>
            <a:endParaRPr lang="en-US" sz="1300" spc="-20">
              <a:latin typeface="Times New Roman"/>
              <a:cs typeface="Times New Roman"/>
            </a:endParaRPr>
          </a:p>
          <a:p>
            <a:pPr marL="299085" indent="-286385">
              <a:lnSpc>
                <a:spcPct val="100000"/>
              </a:lnSpc>
              <a:spcBef>
                <a:spcPts val="100"/>
              </a:spcBef>
              <a:buChar char="•"/>
              <a:tabLst>
                <a:tab pos="298450" algn="l"/>
                <a:tab pos="299085" algn="l"/>
              </a:tabLst>
            </a:pPr>
            <a:r>
              <a:rPr lang="en-US" sz="1300" spc="-20">
                <a:latin typeface="Times New Roman"/>
                <a:cs typeface="Times New Roman"/>
              </a:rPr>
              <a:t>Age</a:t>
            </a:r>
          </a:p>
          <a:p>
            <a:pPr marL="299085" indent="-286385">
              <a:lnSpc>
                <a:spcPct val="100000"/>
              </a:lnSpc>
              <a:spcBef>
                <a:spcPts val="100"/>
              </a:spcBef>
              <a:buChar char="•"/>
              <a:tabLst>
                <a:tab pos="298450" algn="l"/>
                <a:tab pos="299085" algn="l"/>
              </a:tabLst>
            </a:pPr>
            <a:r>
              <a:rPr lang="en-US" sz="1300" spc="-20" err="1">
                <a:latin typeface="Times New Roman"/>
                <a:cs typeface="Times New Roman"/>
              </a:rPr>
              <a:t>RestingBP</a:t>
            </a:r>
            <a:endParaRPr lang="en-US" sz="1300" spc="-20">
              <a:latin typeface="Times New Roman"/>
              <a:cs typeface="Times New Roman"/>
            </a:endParaRPr>
          </a:p>
          <a:p>
            <a:pPr marL="299085" indent="-286385">
              <a:lnSpc>
                <a:spcPct val="100000"/>
              </a:lnSpc>
              <a:spcBef>
                <a:spcPts val="100"/>
              </a:spcBef>
              <a:buChar char="•"/>
              <a:tabLst>
                <a:tab pos="298450" algn="l"/>
                <a:tab pos="299085" algn="l"/>
              </a:tabLst>
            </a:pPr>
            <a:r>
              <a:rPr lang="en-US" sz="1300" spc="-20">
                <a:latin typeface="Times New Roman"/>
                <a:cs typeface="Times New Roman"/>
              </a:rPr>
              <a:t>Cholesterol</a:t>
            </a:r>
          </a:p>
          <a:p>
            <a:pPr marL="299085" indent="-286385">
              <a:lnSpc>
                <a:spcPct val="100000"/>
              </a:lnSpc>
              <a:spcBef>
                <a:spcPts val="100"/>
              </a:spcBef>
              <a:buChar char="•"/>
              <a:tabLst>
                <a:tab pos="298450" algn="l"/>
                <a:tab pos="299085" algn="l"/>
              </a:tabLst>
            </a:pPr>
            <a:r>
              <a:rPr lang="en-US" sz="1300" spc="-20" err="1">
                <a:latin typeface="Times New Roman"/>
                <a:cs typeface="Times New Roman"/>
              </a:rPr>
              <a:t>FastingBS</a:t>
            </a:r>
            <a:endParaRPr lang="en-US" sz="1300" spc="-20">
              <a:latin typeface="Times New Roman"/>
              <a:cs typeface="Times New Roman"/>
            </a:endParaRPr>
          </a:p>
          <a:p>
            <a:pPr marL="299085" indent="-286385">
              <a:lnSpc>
                <a:spcPct val="100000"/>
              </a:lnSpc>
              <a:spcBef>
                <a:spcPts val="100"/>
              </a:spcBef>
              <a:buChar char="•"/>
              <a:tabLst>
                <a:tab pos="298450" algn="l"/>
                <a:tab pos="299085" algn="l"/>
              </a:tabLst>
            </a:pPr>
            <a:r>
              <a:rPr lang="en-US" sz="1300" spc="-20" err="1">
                <a:latin typeface="Times New Roman"/>
                <a:cs typeface="Times New Roman"/>
              </a:rPr>
              <a:t>MaxHR</a:t>
            </a:r>
            <a:endParaRPr lang="en-US" sz="1300" spc="-20">
              <a:latin typeface="Times New Roman"/>
              <a:cs typeface="Times New Roman"/>
            </a:endParaRPr>
          </a:p>
          <a:p>
            <a:pPr marL="299085" indent="-286385">
              <a:lnSpc>
                <a:spcPct val="100000"/>
              </a:lnSpc>
              <a:spcBef>
                <a:spcPts val="100"/>
              </a:spcBef>
              <a:buChar char="•"/>
              <a:tabLst>
                <a:tab pos="298450" algn="l"/>
                <a:tab pos="299085" algn="l"/>
              </a:tabLst>
            </a:pPr>
            <a:r>
              <a:rPr lang="en-US" sz="1300" spc="-20" err="1">
                <a:latin typeface="Times New Roman"/>
                <a:cs typeface="Times New Roman"/>
              </a:rPr>
              <a:t>Oldpeak</a:t>
            </a:r>
            <a:endParaRPr lang="en-US" sz="1300" spc="-20">
              <a:latin typeface="Times New Roman"/>
              <a:cs typeface="Times New Roman"/>
            </a:endParaRPr>
          </a:p>
          <a:p>
            <a:pPr marL="299085" indent="-286385">
              <a:lnSpc>
                <a:spcPct val="100000"/>
              </a:lnSpc>
              <a:spcBef>
                <a:spcPts val="100"/>
              </a:spcBef>
              <a:buChar char="•"/>
              <a:tabLst>
                <a:tab pos="298450" algn="l"/>
                <a:tab pos="299085" algn="l"/>
              </a:tabLst>
            </a:pPr>
            <a:r>
              <a:rPr lang="en-US" sz="1300" spc="-20" err="1">
                <a:latin typeface="Times New Roman"/>
                <a:cs typeface="Times New Roman"/>
              </a:rPr>
              <a:t>HeartDisease</a:t>
            </a:r>
            <a:endParaRPr lang="en-US" sz="1300" spc="-20">
              <a:latin typeface="Times New Roman"/>
              <a:cs typeface="Times New Roman"/>
            </a:endParaRPr>
          </a:p>
        </p:txBody>
      </p:sp>
      <p:sp>
        <p:nvSpPr>
          <p:cNvPr id="9" name="object 9"/>
          <p:cNvSpPr txBox="1"/>
          <p:nvPr/>
        </p:nvSpPr>
        <p:spPr>
          <a:xfrm>
            <a:off x="300038" y="1021343"/>
            <a:ext cx="8234362" cy="948978"/>
          </a:xfrm>
          <a:prstGeom prst="rect">
            <a:avLst/>
          </a:prstGeom>
        </p:spPr>
        <p:txBody>
          <a:bodyPr vert="horz" wrap="square" lIns="0" tIns="12700" rIns="0" bIns="0" rtlCol="0">
            <a:spAutoFit/>
          </a:bodyPr>
          <a:lstStyle/>
          <a:p>
            <a:pPr marL="12700" marR="671830">
              <a:lnSpc>
                <a:spcPct val="100000"/>
              </a:lnSpc>
              <a:spcBef>
                <a:spcPts val="100"/>
              </a:spcBef>
            </a:pPr>
            <a:r>
              <a:rPr lang="en-US" sz="2000" spc="-5">
                <a:latin typeface="Times New Roman"/>
                <a:cs typeface="Times New Roman"/>
              </a:rPr>
              <a:t>Heart Failure Prediction </a:t>
            </a:r>
            <a:r>
              <a:rPr lang="en-US" sz="2000">
                <a:latin typeface="Times New Roman"/>
                <a:cs typeface="Times New Roman"/>
              </a:rPr>
              <a:t>dataset- </a:t>
            </a:r>
            <a:r>
              <a:rPr lang="en-US" sz="2000" spc="5">
                <a:latin typeface="Times New Roman"/>
                <a:cs typeface="Times New Roman"/>
              </a:rPr>
              <a:t> </a:t>
            </a:r>
            <a:r>
              <a:rPr lang="en-IN" sz="2000" spc="5">
                <a:latin typeface="Times New Roman"/>
                <a:cs typeface="Times New Roman"/>
                <a:hlinkClick r:id="rId2"/>
              </a:rPr>
              <a:t>https://www.kaggle.com/datasets/fedesoriano/heart-failure-prediction/</a:t>
            </a:r>
            <a:endParaRPr lang="en-IN" sz="2000" spc="5">
              <a:latin typeface="Times New Roman"/>
              <a:cs typeface="Times New Roman"/>
            </a:endParaRPr>
          </a:p>
          <a:p>
            <a:pPr marL="12700" marR="671830">
              <a:lnSpc>
                <a:spcPct val="100000"/>
              </a:lnSpc>
              <a:spcBef>
                <a:spcPts val="100"/>
              </a:spcBef>
            </a:pPr>
            <a:r>
              <a:rPr lang="en-IN" sz="2000" spc="5">
                <a:latin typeface="Times New Roman"/>
                <a:cs typeface="Times New Roman"/>
              </a:rPr>
              <a:t>data</a:t>
            </a:r>
            <a:r>
              <a:rPr lang="en-US" sz="1600" spc="-5">
                <a:latin typeface="Times New Roman"/>
                <a:cs typeface="Times New Roman"/>
              </a:rPr>
              <a:t>Raw </a:t>
            </a:r>
            <a:r>
              <a:rPr lang="en-US" sz="1600">
                <a:latin typeface="Times New Roman"/>
                <a:cs typeface="Times New Roman"/>
              </a:rPr>
              <a:t>data -                                                  </a:t>
            </a:r>
            <a:r>
              <a:rPr lang="en-US" sz="1600" spc="-5">
                <a:latin typeface="Times New Roman"/>
                <a:cs typeface="Times New Roman"/>
              </a:rPr>
              <a:t>Numerical columns</a:t>
            </a:r>
            <a:r>
              <a:rPr lang="en-US" sz="1600">
                <a:latin typeface="Times New Roman"/>
                <a:cs typeface="Times New Roman"/>
              </a:rPr>
              <a:t> -      </a:t>
            </a:r>
            <a:r>
              <a:rPr lang="en-US" sz="1600" spc="-5">
                <a:latin typeface="Times New Roman"/>
                <a:cs typeface="Times New Roman"/>
              </a:rPr>
              <a:t>Categorical</a:t>
            </a:r>
            <a:r>
              <a:rPr lang="en-US" sz="1600" spc="-45">
                <a:latin typeface="Times New Roman"/>
                <a:cs typeface="Times New Roman"/>
              </a:rPr>
              <a:t> </a:t>
            </a:r>
            <a:r>
              <a:rPr lang="en-US" sz="1600" spc="-5">
                <a:latin typeface="Times New Roman"/>
                <a:cs typeface="Times New Roman"/>
              </a:rPr>
              <a:t>columns</a:t>
            </a:r>
            <a:r>
              <a:rPr lang="en-US" sz="1600" spc="-40">
                <a:latin typeface="Times New Roman"/>
                <a:cs typeface="Times New Roman"/>
              </a:rPr>
              <a:t> </a:t>
            </a:r>
            <a:endParaRPr lang="en-US" sz="1600">
              <a:latin typeface="Times New Roman"/>
              <a:cs typeface="Times New Roman"/>
            </a:endParaRPr>
          </a:p>
        </p:txBody>
      </p:sp>
      <p:sp>
        <p:nvSpPr>
          <p:cNvPr id="10" name="object 10"/>
          <p:cNvSpPr txBox="1"/>
          <p:nvPr/>
        </p:nvSpPr>
        <p:spPr>
          <a:xfrm>
            <a:off x="6635965" y="2079561"/>
            <a:ext cx="1584397" cy="1013098"/>
          </a:xfrm>
          <a:prstGeom prst="rect">
            <a:avLst/>
          </a:prstGeom>
        </p:spPr>
        <p:txBody>
          <a:bodyPr vert="horz" wrap="square" lIns="0" tIns="12700" rIns="0" bIns="0" rtlCol="0">
            <a:spAutoFit/>
          </a:bodyPr>
          <a:lstStyle/>
          <a:p>
            <a:pPr marL="299085" indent="-286385">
              <a:lnSpc>
                <a:spcPct val="100000"/>
              </a:lnSpc>
              <a:spcBef>
                <a:spcPts val="100"/>
              </a:spcBef>
              <a:buChar char="•"/>
              <a:tabLst>
                <a:tab pos="298450" algn="l"/>
                <a:tab pos="299085" algn="l"/>
              </a:tabLst>
            </a:pPr>
            <a:r>
              <a:rPr lang="en-IN" sz="1300" spc="-5">
                <a:latin typeface="Times New Roman"/>
                <a:cs typeface="Times New Roman"/>
              </a:rPr>
              <a:t>Sex</a:t>
            </a:r>
          </a:p>
          <a:p>
            <a:pPr marL="299085" indent="-286385">
              <a:lnSpc>
                <a:spcPct val="100000"/>
              </a:lnSpc>
              <a:buChar char="•"/>
              <a:tabLst>
                <a:tab pos="298450" algn="l"/>
                <a:tab pos="299085" algn="l"/>
              </a:tabLst>
            </a:pPr>
            <a:r>
              <a:rPr lang="en-IN" sz="1300" spc="-5" err="1">
                <a:latin typeface="Times New Roman"/>
                <a:cs typeface="Times New Roman"/>
              </a:rPr>
              <a:t>ChestPainTyp</a:t>
            </a:r>
            <a:endParaRPr lang="en-IN" sz="1300" spc="-5">
              <a:latin typeface="Times New Roman"/>
              <a:cs typeface="Times New Roman"/>
            </a:endParaRPr>
          </a:p>
          <a:p>
            <a:pPr marL="299085" indent="-286385">
              <a:lnSpc>
                <a:spcPct val="100000"/>
              </a:lnSpc>
              <a:buChar char="•"/>
              <a:tabLst>
                <a:tab pos="298450" algn="l"/>
                <a:tab pos="299085" algn="l"/>
              </a:tabLst>
            </a:pPr>
            <a:r>
              <a:rPr lang="en-IN" sz="1300" spc="-5" err="1">
                <a:latin typeface="Times New Roman"/>
                <a:cs typeface="Times New Roman"/>
              </a:rPr>
              <a:t>RestingECG</a:t>
            </a:r>
            <a:endParaRPr lang="en-IN" sz="1300" spc="-5">
              <a:latin typeface="Times New Roman"/>
              <a:cs typeface="Times New Roman"/>
            </a:endParaRPr>
          </a:p>
          <a:p>
            <a:pPr marL="299085" indent="-286385">
              <a:lnSpc>
                <a:spcPct val="100000"/>
              </a:lnSpc>
              <a:buChar char="•"/>
              <a:tabLst>
                <a:tab pos="298450" algn="l"/>
                <a:tab pos="299085" algn="l"/>
              </a:tabLst>
            </a:pPr>
            <a:r>
              <a:rPr lang="en-IN" sz="1300" spc="-5" err="1">
                <a:latin typeface="Times New Roman"/>
                <a:cs typeface="Times New Roman"/>
              </a:rPr>
              <a:t>ExerciseAngina</a:t>
            </a:r>
            <a:endParaRPr lang="en-IN" sz="1300" spc="-5">
              <a:latin typeface="Times New Roman"/>
              <a:cs typeface="Times New Roman"/>
            </a:endParaRPr>
          </a:p>
          <a:p>
            <a:pPr marL="299085" indent="-286385">
              <a:lnSpc>
                <a:spcPct val="100000"/>
              </a:lnSpc>
              <a:buChar char="•"/>
              <a:tabLst>
                <a:tab pos="298450" algn="l"/>
                <a:tab pos="299085" algn="l"/>
              </a:tabLst>
            </a:pPr>
            <a:r>
              <a:rPr lang="en-IN" sz="1300" spc="-5" err="1">
                <a:latin typeface="Times New Roman"/>
                <a:cs typeface="Times New Roman"/>
              </a:rPr>
              <a:t>ST_Slope</a:t>
            </a:r>
            <a:endParaRPr sz="1300">
              <a:latin typeface="Times New Roman"/>
              <a:cs typeface="Times New Roman"/>
            </a:endParaRPr>
          </a:p>
        </p:txBody>
      </p:sp>
      <p:sp>
        <p:nvSpPr>
          <p:cNvPr id="11" name="object 11"/>
          <p:cNvSpPr txBox="1"/>
          <p:nvPr/>
        </p:nvSpPr>
        <p:spPr>
          <a:xfrm>
            <a:off x="6465149" y="4055922"/>
            <a:ext cx="1359535" cy="269240"/>
          </a:xfrm>
          <a:prstGeom prst="rect">
            <a:avLst/>
          </a:prstGeom>
        </p:spPr>
        <p:txBody>
          <a:bodyPr vert="horz" wrap="square" lIns="0" tIns="12700" rIns="0" bIns="0" rtlCol="0">
            <a:spAutoFit/>
          </a:bodyPr>
          <a:lstStyle/>
          <a:p>
            <a:pPr marL="12700">
              <a:lnSpc>
                <a:spcPct val="100000"/>
              </a:lnSpc>
              <a:spcBef>
                <a:spcPts val="100"/>
              </a:spcBef>
            </a:pPr>
            <a:r>
              <a:rPr sz="1600" spc="-30">
                <a:latin typeface="Times New Roman"/>
                <a:cs typeface="Times New Roman"/>
              </a:rPr>
              <a:t>Target</a:t>
            </a:r>
            <a:r>
              <a:rPr sz="1600" spc="-35">
                <a:latin typeface="Times New Roman"/>
                <a:cs typeface="Times New Roman"/>
              </a:rPr>
              <a:t> </a:t>
            </a:r>
            <a:r>
              <a:rPr sz="1600" spc="-5">
                <a:latin typeface="Times New Roman"/>
                <a:cs typeface="Times New Roman"/>
              </a:rPr>
              <a:t>Column</a:t>
            </a:r>
            <a:r>
              <a:rPr sz="1600" spc="-35">
                <a:latin typeface="Times New Roman"/>
                <a:cs typeface="Times New Roman"/>
              </a:rPr>
              <a:t> </a:t>
            </a:r>
            <a:r>
              <a:rPr sz="1600">
                <a:latin typeface="Times New Roman"/>
                <a:cs typeface="Times New Roman"/>
              </a:rPr>
              <a:t>-</a:t>
            </a:r>
          </a:p>
        </p:txBody>
      </p:sp>
      <p:sp>
        <p:nvSpPr>
          <p:cNvPr id="12" name="object 12"/>
          <p:cNvSpPr txBox="1"/>
          <p:nvPr/>
        </p:nvSpPr>
        <p:spPr>
          <a:xfrm>
            <a:off x="6635966" y="4301285"/>
            <a:ext cx="1317625" cy="212879"/>
          </a:xfrm>
          <a:prstGeom prst="rect">
            <a:avLst/>
          </a:prstGeom>
        </p:spPr>
        <p:txBody>
          <a:bodyPr vert="horz" wrap="square" lIns="0" tIns="12700" rIns="0" bIns="0" rtlCol="0" anchor="t">
            <a:spAutoFit/>
          </a:bodyPr>
          <a:lstStyle/>
          <a:p>
            <a:pPr marL="299085" indent="-286385">
              <a:lnSpc>
                <a:spcPct val="100000"/>
              </a:lnSpc>
              <a:spcBef>
                <a:spcPts val="100"/>
              </a:spcBef>
              <a:buFontTx/>
              <a:buChar char="•"/>
              <a:tabLst>
                <a:tab pos="298450" algn="l"/>
                <a:tab pos="299085" algn="l"/>
              </a:tabLst>
            </a:pPr>
            <a:r>
              <a:rPr lang="en-US" sz="1300" err="1">
                <a:latin typeface="Times New Roman"/>
                <a:cs typeface="Times New Roman"/>
              </a:rPr>
              <a:t>HeartDisease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5013" y="914400"/>
            <a:ext cx="8464550" cy="3767698"/>
          </a:xfrm>
          <a:prstGeom prst="rect">
            <a:avLst/>
          </a:prstGeom>
        </p:spPr>
        <p:txBody>
          <a:bodyPr vert="horz" wrap="square" lIns="0" tIns="165100" rIns="0" bIns="0" rtlCol="0">
            <a:spAutoFit/>
          </a:bodyPr>
          <a:lstStyle/>
          <a:p>
            <a:pPr marL="12700">
              <a:lnSpc>
                <a:spcPct val="100000"/>
              </a:lnSpc>
              <a:spcBef>
                <a:spcPts val="1300"/>
              </a:spcBef>
            </a:pPr>
            <a:r>
              <a:rPr sz="1800" b="1" spc="-10">
                <a:latin typeface="Times New Roman"/>
                <a:cs typeface="Times New Roman"/>
              </a:rPr>
              <a:t>Problem</a:t>
            </a:r>
            <a:r>
              <a:rPr sz="1800" b="1" spc="-20">
                <a:latin typeface="Times New Roman"/>
                <a:cs typeface="Times New Roman"/>
              </a:rPr>
              <a:t> </a:t>
            </a:r>
            <a:r>
              <a:rPr sz="1800" b="1" spc="-5">
                <a:latin typeface="Times New Roman"/>
                <a:cs typeface="Times New Roman"/>
              </a:rPr>
              <a:t>Statement</a:t>
            </a:r>
            <a:r>
              <a:rPr sz="1800" b="1" spc="-15">
                <a:latin typeface="Times New Roman"/>
                <a:cs typeface="Times New Roman"/>
              </a:rPr>
              <a:t> </a:t>
            </a:r>
            <a:r>
              <a:rPr sz="1800">
                <a:latin typeface="Times New Roman"/>
                <a:cs typeface="Times New Roman"/>
              </a:rPr>
              <a:t>-</a:t>
            </a:r>
          </a:p>
          <a:p>
            <a:pPr marL="12700" marR="444500">
              <a:lnSpc>
                <a:spcPct val="100000"/>
              </a:lnSpc>
              <a:spcBef>
                <a:spcPts val="1200"/>
              </a:spcBef>
            </a:pPr>
            <a:r>
              <a:rPr lang="en-IN" sz="1800" spc="-5">
                <a:latin typeface="Times New Roman"/>
                <a:cs typeface="Times New Roman"/>
              </a:rPr>
              <a:t>Cardiovascular diseases (CVDs) are the number 1 cause of death globally, taking an estimated 17.9 million lives each year, which accounts for 31% of all deaths worldwide. Four out of 5CVD deaths are due to heart attacks and strokes, and one-third of these deaths occur prematurely in people under 70 years of age. Heart failure is a common event caused by CVDs and this dataset contains 11 features that can be used to predict a possible heart disease.</a:t>
            </a:r>
            <a:br>
              <a:rPr lang="en-IN" sz="1800" spc="-5">
                <a:latin typeface="Times New Roman"/>
                <a:cs typeface="Times New Roman"/>
              </a:rPr>
            </a:br>
            <a:endParaRPr lang="en-IN" sz="2000">
              <a:latin typeface="Times New Roman"/>
              <a:cs typeface="Times New Roman"/>
            </a:endParaRPr>
          </a:p>
          <a:p>
            <a:pPr>
              <a:lnSpc>
                <a:spcPct val="100000"/>
              </a:lnSpc>
            </a:pPr>
            <a:r>
              <a:rPr lang="en-IN" sz="2000">
                <a:latin typeface="Times New Roman"/>
                <a:cs typeface="Times New Roman"/>
              </a:rPr>
              <a:t>The target variable in the heart failure prediction dataset is whether or not a patient will develop heart failure. This is a binary classification problem, as the target variable can only take on two values: 0 (no heart failure) or 1 (heart failure).</a:t>
            </a:r>
            <a:endParaRPr sz="2000">
              <a:latin typeface="Times New Roman"/>
              <a:cs typeface="Times New Roman"/>
            </a:endParaRPr>
          </a:p>
          <a:p>
            <a:pPr>
              <a:lnSpc>
                <a:spcPct val="100000"/>
              </a:lnSpc>
              <a:spcBef>
                <a:spcPts val="35"/>
              </a:spcBef>
            </a:pPr>
            <a:endParaRPr sz="18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5</a:t>
            </a:fld>
            <a:endParaRPr/>
          </a:p>
        </p:txBody>
      </p:sp>
      <p:sp>
        <p:nvSpPr>
          <p:cNvPr id="6" name="TextBox 5">
            <a:extLst>
              <a:ext uri="{FF2B5EF4-FFF2-40B4-BE49-F238E27FC236}">
                <a16:creationId xmlns:a16="http://schemas.microsoft.com/office/drawing/2014/main" id="{5592A59D-BAA3-EE1B-0DCD-5C03555A1163}"/>
              </a:ext>
            </a:extLst>
          </p:cNvPr>
          <p:cNvSpPr txBox="1"/>
          <p:nvPr/>
        </p:nvSpPr>
        <p:spPr>
          <a:xfrm>
            <a:off x="415013" y="4801260"/>
            <a:ext cx="8253949" cy="646331"/>
          </a:xfrm>
          <a:prstGeom prst="rect">
            <a:avLst/>
          </a:prstGeom>
          <a:noFill/>
        </p:spPr>
        <p:txBody>
          <a:bodyPr wrap="square" rtlCol="0">
            <a:spAutoFit/>
          </a:bodyPr>
          <a:lstStyle/>
          <a:p>
            <a:r>
              <a:rPr lang="en-US" b="1"/>
              <a:t>Objective-</a:t>
            </a:r>
          </a:p>
          <a:p>
            <a:endParaRPr lang="en-US"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32153" y="4729967"/>
            <a:ext cx="78740" cy="116839"/>
          </a:xfrm>
          <a:prstGeom prst="rect">
            <a:avLst/>
          </a:prstGeom>
        </p:spPr>
        <p:txBody>
          <a:bodyPr vert="horz" wrap="square" lIns="0" tIns="12700" rIns="0" bIns="0" rtlCol="0">
            <a:spAutoFit/>
          </a:bodyPr>
          <a:lstStyle/>
          <a:p>
            <a:pPr marL="12700">
              <a:lnSpc>
                <a:spcPct val="100000"/>
              </a:lnSpc>
              <a:spcBef>
                <a:spcPts val="100"/>
              </a:spcBef>
            </a:pPr>
            <a:r>
              <a:rPr sz="600" spc="-5">
                <a:latin typeface="Times New Roman"/>
                <a:cs typeface="Times New Roman"/>
              </a:rPr>
              <a:t>c.</a:t>
            </a:r>
            <a:endParaRPr sz="60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6</a:t>
            </a:fld>
            <a:endParaRPr/>
          </a:p>
        </p:txBody>
      </p:sp>
      <p:sp>
        <p:nvSpPr>
          <p:cNvPr id="4" name="object 4"/>
          <p:cNvSpPr txBox="1"/>
          <p:nvPr/>
        </p:nvSpPr>
        <p:spPr>
          <a:xfrm>
            <a:off x="300038" y="1021343"/>
            <a:ext cx="8475980" cy="4267835"/>
          </a:xfrm>
          <a:prstGeom prst="rect">
            <a:avLst/>
          </a:prstGeom>
        </p:spPr>
        <p:txBody>
          <a:bodyPr vert="horz" wrap="square" lIns="0" tIns="12700" rIns="0" bIns="0" rtlCol="0" anchor="t">
            <a:spAutoFit/>
          </a:bodyPr>
          <a:lstStyle/>
          <a:p>
            <a:pPr marL="12700">
              <a:lnSpc>
                <a:spcPct val="100000"/>
              </a:lnSpc>
              <a:spcBef>
                <a:spcPts val="100"/>
              </a:spcBef>
            </a:pPr>
            <a:r>
              <a:rPr lang="en-US" sz="2000" spc="-5" dirty="0">
                <a:latin typeface="Times New Roman"/>
                <a:cs typeface="Times New Roman"/>
              </a:rPr>
              <a:t>Data</a:t>
            </a:r>
            <a:r>
              <a:rPr lang="en-US" sz="2000" spc="-50" dirty="0">
                <a:latin typeface="Times New Roman"/>
                <a:cs typeface="Times New Roman"/>
              </a:rPr>
              <a:t> </a:t>
            </a:r>
            <a:r>
              <a:rPr lang="en-US" sz="2000" dirty="0">
                <a:latin typeface="Times New Roman"/>
                <a:cs typeface="Times New Roman"/>
              </a:rPr>
              <a:t>preprocessing</a:t>
            </a:r>
          </a:p>
          <a:p>
            <a:pPr>
              <a:lnSpc>
                <a:spcPct val="100000"/>
              </a:lnSpc>
              <a:spcBef>
                <a:spcPts val="45"/>
              </a:spcBef>
            </a:pPr>
            <a:endParaRPr lang="en-US" sz="2250">
              <a:latin typeface="Times New Roman"/>
              <a:cs typeface="Times New Roman"/>
            </a:endParaRPr>
          </a:p>
          <a:p>
            <a:pPr marL="114300" lvl="1" indent="342900">
              <a:tabLst>
                <a:tab pos="468630" algn="l"/>
                <a:tab pos="469265" algn="l"/>
              </a:tabLst>
            </a:pPr>
            <a:r>
              <a:rPr lang="en-US" dirty="0">
                <a:latin typeface="Times New Roman"/>
                <a:ea typeface="+mn-lt"/>
                <a:cs typeface="+mn-lt"/>
              </a:rPr>
              <a:t>Data preprocessing is crucial for effective machine learning. Null values (</a:t>
            </a:r>
            <a:r>
              <a:rPr lang="en-US" err="1">
                <a:latin typeface="Times New Roman"/>
                <a:ea typeface="+mn-lt"/>
                <a:cs typeface="+mn-lt"/>
              </a:rPr>
              <a:t>NaN</a:t>
            </a:r>
            <a:r>
              <a:rPr lang="en-US" dirty="0">
                <a:latin typeface="Times New Roman"/>
                <a:ea typeface="+mn-lt"/>
                <a:cs typeface="+mn-lt"/>
              </a:rPr>
              <a:t>) are common in real-world datasets and need intervention.</a:t>
            </a:r>
            <a:endParaRPr lang="en-US" dirty="0">
              <a:latin typeface="Times New Roman"/>
              <a:cs typeface="Times New Roman"/>
            </a:endParaRPr>
          </a:p>
          <a:p>
            <a:pPr marL="114300" lvl="1" indent="342900">
              <a:tabLst>
                <a:tab pos="468630" algn="l"/>
                <a:tab pos="469265" algn="l"/>
              </a:tabLst>
            </a:pPr>
            <a:endParaRPr lang="en-US" dirty="0">
              <a:latin typeface="Times New Roman"/>
              <a:ea typeface="+mn-lt"/>
              <a:cs typeface="+mn-lt"/>
            </a:endParaRPr>
          </a:p>
          <a:p>
            <a:pPr marL="285750" indent="-285750">
              <a:buFont typeface="Arial"/>
              <a:buChar char="•"/>
              <a:tabLst>
                <a:tab pos="468630" algn="l"/>
                <a:tab pos="469265" algn="l"/>
              </a:tabLst>
            </a:pPr>
            <a:r>
              <a:rPr lang="en-US" dirty="0">
                <a:latin typeface="Times New Roman"/>
                <a:ea typeface="+mn-lt"/>
                <a:cs typeface="+mn-lt"/>
              </a:rPr>
              <a:t>Identification of Null Values</a:t>
            </a:r>
            <a:endParaRPr lang="en-US" dirty="0">
              <a:latin typeface="Times New Roman"/>
              <a:cs typeface="Times New Roman"/>
            </a:endParaRPr>
          </a:p>
          <a:p>
            <a:pPr marL="742950" lvl="1" indent="-285750">
              <a:buFont typeface="Arial"/>
              <a:buChar char="•"/>
              <a:tabLst>
                <a:tab pos="468630" algn="l"/>
                <a:tab pos="469265" algn="l"/>
              </a:tabLst>
            </a:pPr>
            <a:r>
              <a:rPr lang="en-US" dirty="0">
                <a:latin typeface="Times New Roman"/>
                <a:ea typeface="+mn-lt"/>
                <a:cs typeface="+mn-lt"/>
              </a:rPr>
              <a:t>Use </a:t>
            </a:r>
            <a:r>
              <a:rPr lang="en-US" dirty="0">
                <a:latin typeface="Times New Roman"/>
                <a:cs typeface="Times New Roman"/>
              </a:rPr>
              <a:t>df.info()</a:t>
            </a:r>
            <a:r>
              <a:rPr lang="en-US" dirty="0">
                <a:latin typeface="Times New Roman"/>
                <a:ea typeface="+mn-lt"/>
                <a:cs typeface="+mn-lt"/>
              </a:rPr>
              <a:t> to check data types and non-null counts.</a:t>
            </a:r>
            <a:endParaRPr lang="en-US" dirty="0">
              <a:latin typeface="Times New Roman"/>
              <a:cs typeface="Times New Roman"/>
            </a:endParaRPr>
          </a:p>
          <a:p>
            <a:pPr marL="742950" lvl="1" indent="-285750">
              <a:buFont typeface="Arial"/>
              <a:buChar char="•"/>
              <a:tabLst>
                <a:tab pos="468630" algn="l"/>
                <a:tab pos="469265" algn="l"/>
              </a:tabLst>
            </a:pPr>
            <a:r>
              <a:rPr lang="en-US" dirty="0">
                <a:latin typeface="Times New Roman"/>
                <a:ea typeface="+mn-lt"/>
                <a:cs typeface="+mn-lt"/>
              </a:rPr>
              <a:t>Use </a:t>
            </a:r>
            <a:r>
              <a:rPr lang="en-US" err="1">
                <a:latin typeface="Times New Roman"/>
                <a:cs typeface="Times New Roman"/>
              </a:rPr>
              <a:t>df.isnull</a:t>
            </a:r>
            <a:r>
              <a:rPr lang="en-US" dirty="0">
                <a:latin typeface="Times New Roman"/>
                <a:cs typeface="Times New Roman"/>
              </a:rPr>
              <a:t>().sum()</a:t>
            </a:r>
            <a:r>
              <a:rPr lang="en-US" dirty="0">
                <a:latin typeface="Times New Roman"/>
                <a:ea typeface="+mn-lt"/>
                <a:cs typeface="+mn-lt"/>
              </a:rPr>
              <a:t> to identify the count of null values in each column.</a:t>
            </a:r>
            <a:endParaRPr lang="en-US" dirty="0">
              <a:latin typeface="Times New Roman"/>
              <a:cs typeface="Times New Roman"/>
            </a:endParaRPr>
          </a:p>
          <a:p>
            <a:pPr marL="285750" indent="-285750">
              <a:buFont typeface="Arial"/>
              <a:buChar char="•"/>
              <a:tabLst>
                <a:tab pos="468630" algn="l"/>
                <a:tab pos="469265" algn="l"/>
              </a:tabLst>
            </a:pPr>
            <a:r>
              <a:rPr lang="en-US" dirty="0">
                <a:latin typeface="Times New Roman"/>
                <a:ea typeface="+mn-lt"/>
                <a:cs typeface="+mn-lt"/>
              </a:rPr>
              <a:t>Imputation</a:t>
            </a:r>
            <a:endParaRPr lang="en-US" dirty="0">
              <a:latin typeface="Times New Roman"/>
              <a:cs typeface="Times New Roman"/>
            </a:endParaRPr>
          </a:p>
          <a:p>
            <a:pPr marL="742950" lvl="1" indent="-285750">
              <a:buFont typeface="Arial"/>
              <a:buChar char="•"/>
              <a:tabLst>
                <a:tab pos="468630" algn="l"/>
                <a:tab pos="469265" algn="l"/>
              </a:tabLst>
            </a:pPr>
            <a:r>
              <a:rPr lang="en-US" dirty="0">
                <a:latin typeface="Times New Roman"/>
                <a:ea typeface="+mn-lt"/>
                <a:cs typeface="+mn-lt"/>
              </a:rPr>
              <a:t>Avoid removing rows/columns to prevent information loss.</a:t>
            </a:r>
            <a:endParaRPr lang="en-US" dirty="0">
              <a:latin typeface="Times New Roman"/>
              <a:cs typeface="Times New Roman"/>
            </a:endParaRPr>
          </a:p>
          <a:p>
            <a:pPr marL="742950" lvl="1" indent="-285750">
              <a:buFont typeface="Arial"/>
              <a:buChar char="•"/>
              <a:tabLst>
                <a:tab pos="468630" algn="l"/>
                <a:tab pos="469265" algn="l"/>
              </a:tabLst>
            </a:pPr>
            <a:r>
              <a:rPr lang="en-US" dirty="0">
                <a:latin typeface="Times New Roman"/>
                <a:ea typeface="+mn-lt"/>
                <a:cs typeface="+mn-lt"/>
              </a:rPr>
              <a:t>Utilize imputation to substitute missing values.</a:t>
            </a:r>
            <a:endParaRPr lang="en-US" dirty="0">
              <a:latin typeface="Times New Roman"/>
              <a:cs typeface="Times New Roman"/>
            </a:endParaRPr>
          </a:p>
          <a:p>
            <a:pPr marL="742950" lvl="1" indent="-285750">
              <a:buFont typeface="Arial"/>
              <a:buChar char="•"/>
              <a:tabLst>
                <a:tab pos="468630" algn="l"/>
                <a:tab pos="469265" algn="l"/>
              </a:tabLst>
            </a:pPr>
            <a:r>
              <a:rPr lang="en-US" dirty="0">
                <a:latin typeface="Times New Roman"/>
                <a:ea typeface="+mn-lt"/>
                <a:cs typeface="+mn-lt"/>
              </a:rPr>
              <a:t>Example: </a:t>
            </a:r>
            <a:r>
              <a:rPr lang="en-US" err="1">
                <a:latin typeface="Times New Roman"/>
                <a:cs typeface="Times New Roman"/>
              </a:rPr>
              <a:t>SimpleImputer</a:t>
            </a:r>
            <a:r>
              <a:rPr lang="en-US" dirty="0">
                <a:latin typeface="Times New Roman"/>
                <a:ea typeface="+mn-lt"/>
                <a:cs typeface="+mn-lt"/>
              </a:rPr>
              <a:t> from </a:t>
            </a:r>
            <a:r>
              <a:rPr lang="en-US" err="1">
                <a:latin typeface="Times New Roman"/>
                <a:cs typeface="Times New Roman"/>
              </a:rPr>
              <a:t>sklearn</a:t>
            </a:r>
            <a:r>
              <a:rPr lang="en-US" dirty="0">
                <a:latin typeface="Times New Roman"/>
                <a:ea typeface="+mn-lt"/>
                <a:cs typeface="+mn-lt"/>
              </a:rPr>
              <a:t> for mean imputation.</a:t>
            </a:r>
            <a:endParaRPr lang="en-US" dirty="0">
              <a:latin typeface="Times New Roman"/>
              <a:cs typeface="Times New Roman"/>
            </a:endParaRPr>
          </a:p>
          <a:p>
            <a:pPr marL="285750" indent="-285750">
              <a:buFont typeface="Arial"/>
              <a:buChar char="•"/>
              <a:tabLst>
                <a:tab pos="468630" algn="l"/>
                <a:tab pos="469265" algn="l"/>
              </a:tabLst>
            </a:pPr>
            <a:r>
              <a:rPr lang="en-US" dirty="0">
                <a:latin typeface="Times New Roman"/>
                <a:ea typeface="+mn-lt"/>
                <a:cs typeface="+mn-lt"/>
              </a:rPr>
              <a:t>Demonstration (if applicable)</a:t>
            </a:r>
            <a:endParaRPr lang="en-US" dirty="0">
              <a:latin typeface="Times New Roman"/>
              <a:cs typeface="Times New Roman"/>
            </a:endParaRPr>
          </a:p>
          <a:p>
            <a:pPr marL="742950" lvl="1" indent="-285750">
              <a:buFont typeface="Arial"/>
              <a:buChar char="•"/>
              <a:tabLst>
                <a:tab pos="468630" algn="l"/>
                <a:tab pos="469265" algn="l"/>
              </a:tabLst>
            </a:pPr>
            <a:r>
              <a:rPr lang="en-US" dirty="0">
                <a:latin typeface="Times New Roman"/>
                <a:ea typeface="+mn-lt"/>
                <a:cs typeface="+mn-lt"/>
              </a:rPr>
              <a:t>Displayed code snippets for identification and handling of null values.</a:t>
            </a:r>
            <a:endParaRPr lang="en-US" dirty="0">
              <a:latin typeface="Times New Roman"/>
              <a:cs typeface="Times New Roman"/>
            </a:endParaRPr>
          </a:p>
          <a:p>
            <a:pPr marL="68580" marR="42545">
              <a:tabLst>
                <a:tab pos="468630" algn="l"/>
                <a:tab pos="469265" algn="l"/>
              </a:tabLst>
            </a:pPr>
            <a:endParaRPr lang="en-US">
              <a:latin typeface="Times New Roman"/>
              <a:cs typeface="Times New Roman"/>
            </a:endParaRPr>
          </a:p>
        </p:txBody>
      </p:sp>
      <p:sp>
        <p:nvSpPr>
          <p:cNvPr id="5" name="object 5"/>
          <p:cNvSpPr txBox="1">
            <a:spLocks noGrp="1"/>
          </p:cNvSpPr>
          <p:nvPr>
            <p:ph type="title"/>
          </p:nvPr>
        </p:nvSpPr>
        <p:spPr>
          <a:xfrm>
            <a:off x="300038" y="428512"/>
            <a:ext cx="4334510" cy="482600"/>
          </a:xfrm>
          <a:prstGeom prst="rect">
            <a:avLst/>
          </a:prstGeom>
        </p:spPr>
        <p:txBody>
          <a:bodyPr vert="horz" wrap="square" lIns="0" tIns="12700" rIns="0" bIns="0" rtlCol="0">
            <a:spAutoFit/>
          </a:bodyPr>
          <a:lstStyle/>
          <a:p>
            <a:pPr marL="12700">
              <a:lnSpc>
                <a:spcPct val="100000"/>
              </a:lnSpc>
              <a:spcBef>
                <a:spcPts val="100"/>
              </a:spcBef>
            </a:pPr>
            <a:r>
              <a:rPr spc="-10"/>
              <a:t>Explorator</a:t>
            </a:r>
            <a:r>
              <a:t>y</a:t>
            </a:r>
            <a:r>
              <a:rPr spc="-10"/>
              <a:t> </a:t>
            </a:r>
            <a:r>
              <a:rPr spc="-5"/>
              <a:t>Dat</a:t>
            </a:r>
            <a:r>
              <a:t>a</a:t>
            </a:r>
            <a:r>
              <a:rPr spc="-170"/>
              <a:t> </a:t>
            </a:r>
            <a:r>
              <a:rPr spc="-5"/>
              <a:t>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7</a:t>
            </a:fld>
            <a:endParaRPr/>
          </a:p>
        </p:txBody>
      </p:sp>
      <p:sp>
        <p:nvSpPr>
          <p:cNvPr id="3" name="object 3"/>
          <p:cNvSpPr txBox="1">
            <a:spLocks noGrp="1"/>
          </p:cNvSpPr>
          <p:nvPr>
            <p:ph type="title"/>
          </p:nvPr>
        </p:nvSpPr>
        <p:spPr>
          <a:xfrm>
            <a:off x="300038" y="428512"/>
            <a:ext cx="4334510" cy="482600"/>
          </a:xfrm>
          <a:prstGeom prst="rect">
            <a:avLst/>
          </a:prstGeom>
        </p:spPr>
        <p:txBody>
          <a:bodyPr vert="horz" wrap="square" lIns="0" tIns="12700" rIns="0" bIns="0" rtlCol="0">
            <a:spAutoFit/>
          </a:bodyPr>
          <a:lstStyle/>
          <a:p>
            <a:pPr marL="12700">
              <a:lnSpc>
                <a:spcPct val="100000"/>
              </a:lnSpc>
              <a:spcBef>
                <a:spcPts val="100"/>
              </a:spcBef>
            </a:pPr>
            <a:r>
              <a:rPr spc="-10"/>
              <a:t>Explorator</a:t>
            </a:r>
            <a:r>
              <a:t>y</a:t>
            </a:r>
            <a:r>
              <a:rPr spc="-10"/>
              <a:t> </a:t>
            </a:r>
            <a:r>
              <a:rPr spc="-5"/>
              <a:t>Dat</a:t>
            </a:r>
            <a:r>
              <a:t>a</a:t>
            </a:r>
            <a:r>
              <a:rPr spc="-170"/>
              <a:t> </a:t>
            </a:r>
            <a:r>
              <a:rPr spc="-5"/>
              <a:t>Analysis</a:t>
            </a:r>
          </a:p>
        </p:txBody>
      </p:sp>
      <p:sp>
        <p:nvSpPr>
          <p:cNvPr id="5" name="TextBox 4">
            <a:extLst>
              <a:ext uri="{FF2B5EF4-FFF2-40B4-BE49-F238E27FC236}">
                <a16:creationId xmlns:a16="http://schemas.microsoft.com/office/drawing/2014/main" id="{198A9A7D-F9D4-FBDB-B0D2-F6DD42570950}"/>
              </a:ext>
            </a:extLst>
          </p:cNvPr>
          <p:cNvSpPr txBox="1"/>
          <p:nvPr/>
        </p:nvSpPr>
        <p:spPr>
          <a:xfrm>
            <a:off x="440954" y="1183613"/>
            <a:ext cx="8308507"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ea typeface="+mn-lt"/>
                <a:cs typeface="+mn-lt"/>
              </a:rPr>
              <a:t>Feature Scaling and Categorical Variables</a:t>
            </a:r>
            <a:endParaRPr lang="en-US" dirty="0">
              <a:latin typeface="Times New Roman"/>
              <a:cs typeface="Times New Roman"/>
            </a:endParaRPr>
          </a:p>
          <a:p>
            <a:pPr marL="285750" indent="-285750">
              <a:buFont typeface="Arial"/>
              <a:buChar char="•"/>
            </a:pPr>
            <a:r>
              <a:rPr lang="en-US" dirty="0">
                <a:latin typeface="Times New Roman"/>
                <a:ea typeface="+mn-lt"/>
                <a:cs typeface="+mn-lt"/>
              </a:rPr>
              <a:t>Feature Scaling</a:t>
            </a:r>
            <a:endParaRPr lang="en-US" dirty="0">
              <a:latin typeface="Times New Roman"/>
              <a:cs typeface="Times New Roman"/>
            </a:endParaRPr>
          </a:p>
          <a:p>
            <a:pPr marL="742950" lvl="1" indent="-285750">
              <a:buFont typeface="Arial"/>
              <a:buChar char="•"/>
            </a:pPr>
            <a:r>
              <a:rPr lang="en-US" dirty="0">
                <a:latin typeface="Times New Roman"/>
                <a:ea typeface="+mn-lt"/>
                <a:cs typeface="+mn-lt"/>
              </a:rPr>
              <a:t>Necessary for distance-based algorithms (e.g., KNN, SVM).</a:t>
            </a:r>
            <a:endParaRPr lang="en-US" dirty="0">
              <a:latin typeface="Times New Roman"/>
              <a:cs typeface="Times New Roman"/>
            </a:endParaRPr>
          </a:p>
          <a:p>
            <a:pPr marL="742950" lvl="1" indent="-285750">
              <a:buFont typeface="Arial"/>
              <a:buChar char="•"/>
            </a:pPr>
            <a:r>
              <a:rPr lang="en-US" dirty="0">
                <a:latin typeface="Times New Roman"/>
                <a:ea typeface="+mn-lt"/>
                <a:cs typeface="+mn-lt"/>
              </a:rPr>
              <a:t>Normalization: Scales values between 0 and 1.</a:t>
            </a:r>
            <a:endParaRPr lang="en-US" dirty="0">
              <a:latin typeface="Times New Roman"/>
              <a:cs typeface="Times New Roman"/>
            </a:endParaRPr>
          </a:p>
          <a:p>
            <a:pPr marL="742950" lvl="1" indent="-285750">
              <a:buFont typeface="Arial"/>
              <a:buChar char="•"/>
            </a:pPr>
            <a:r>
              <a:rPr lang="en-US" dirty="0">
                <a:latin typeface="Times New Roman"/>
                <a:ea typeface="+mn-lt"/>
                <a:cs typeface="+mn-lt"/>
              </a:rPr>
              <a:t>Standardization: Centers data around mean with unit standard deviation.</a:t>
            </a:r>
            <a:endParaRPr lang="en-US" dirty="0">
              <a:latin typeface="Times New Roman"/>
              <a:cs typeface="Times New Roman"/>
            </a:endParaRPr>
          </a:p>
          <a:p>
            <a:pPr marL="742950" lvl="1" indent="-285750">
              <a:buFont typeface="Arial"/>
              <a:buChar char="•"/>
            </a:pPr>
            <a:r>
              <a:rPr lang="en-US" dirty="0">
                <a:latin typeface="Times New Roman"/>
                <a:ea typeface="+mn-lt"/>
                <a:cs typeface="+mn-lt"/>
              </a:rPr>
              <a:t>Choose based on the algorithm and data distribution.</a:t>
            </a:r>
            <a:endParaRPr lang="en-US" dirty="0">
              <a:latin typeface="Times New Roman"/>
              <a:cs typeface="Times New Roman"/>
            </a:endParaRPr>
          </a:p>
          <a:p>
            <a:pPr marL="285750" indent="-285750">
              <a:buFont typeface="Arial"/>
              <a:buChar char="•"/>
            </a:pPr>
            <a:r>
              <a:rPr lang="en-US" dirty="0">
                <a:latin typeface="Times New Roman"/>
                <a:ea typeface="+mn-lt"/>
                <a:cs typeface="+mn-lt"/>
              </a:rPr>
              <a:t>Demonstration of Scaling</a:t>
            </a:r>
            <a:endParaRPr lang="en-US" dirty="0">
              <a:latin typeface="Times New Roman"/>
              <a:cs typeface="Times New Roman"/>
            </a:endParaRPr>
          </a:p>
          <a:p>
            <a:pPr marL="742950" lvl="1" indent="-285750">
              <a:buFont typeface="Arial"/>
              <a:buChar char="•"/>
            </a:pPr>
            <a:r>
              <a:rPr lang="en-US" dirty="0">
                <a:latin typeface="Times New Roman"/>
                <a:ea typeface="+mn-lt"/>
                <a:cs typeface="+mn-lt"/>
              </a:rPr>
              <a:t>Displayed code snippets and visualizations for normalization, standardization, and robust scaling.</a:t>
            </a:r>
            <a:endParaRPr lang="en-US" dirty="0">
              <a:latin typeface="Times New Roman"/>
              <a:cs typeface="Times New Roman"/>
            </a:endParaRPr>
          </a:p>
          <a:p>
            <a:pPr marL="285750" indent="-285750">
              <a:buFont typeface="Arial"/>
              <a:buChar char="•"/>
            </a:pPr>
            <a:r>
              <a:rPr lang="en-US" dirty="0">
                <a:latin typeface="Times New Roman"/>
                <a:ea typeface="+mn-lt"/>
                <a:cs typeface="+mn-lt"/>
              </a:rPr>
              <a:t>Handling Categorical Variables</a:t>
            </a:r>
            <a:endParaRPr lang="en-US" dirty="0">
              <a:latin typeface="Times New Roman"/>
              <a:cs typeface="Times New Roman"/>
            </a:endParaRPr>
          </a:p>
          <a:p>
            <a:pPr marL="742950" lvl="1" indent="-285750">
              <a:buFont typeface="Arial"/>
              <a:buChar char="•"/>
            </a:pPr>
            <a:r>
              <a:rPr lang="en-US" dirty="0">
                <a:latin typeface="Times New Roman"/>
                <a:ea typeface="+mn-lt"/>
                <a:cs typeface="+mn-lt"/>
              </a:rPr>
              <a:t>Two types: Nominal and Ordinal.</a:t>
            </a:r>
            <a:endParaRPr lang="en-US" dirty="0">
              <a:latin typeface="Times New Roman"/>
              <a:cs typeface="Times New Roman"/>
            </a:endParaRPr>
          </a:p>
          <a:p>
            <a:pPr marL="742950" lvl="1" indent="-285750">
              <a:buFont typeface="Arial"/>
              <a:buChar char="•"/>
            </a:pPr>
            <a:r>
              <a:rPr lang="en-US" dirty="0">
                <a:latin typeface="Times New Roman"/>
                <a:ea typeface="+mn-lt"/>
                <a:cs typeface="+mn-lt"/>
              </a:rPr>
              <a:t>Use Label Encoding for tree-based models.</a:t>
            </a:r>
            <a:endParaRPr lang="en-US" dirty="0">
              <a:latin typeface="Times New Roman"/>
              <a:cs typeface="Times New Roman"/>
            </a:endParaRPr>
          </a:p>
          <a:p>
            <a:pPr marL="742950" lvl="1" indent="-285750">
              <a:buFont typeface="Arial"/>
              <a:buChar char="•"/>
            </a:pPr>
            <a:r>
              <a:rPr lang="en-US" dirty="0">
                <a:latin typeface="Times New Roman"/>
                <a:ea typeface="+mn-lt"/>
                <a:cs typeface="+mn-lt"/>
              </a:rPr>
              <a:t>For non-tree models, utilize One-Hot Encoding.</a:t>
            </a:r>
            <a:endParaRPr lang="en-US" dirty="0">
              <a:latin typeface="Times New Roman"/>
              <a:cs typeface="Times New Roman"/>
            </a:endParaRPr>
          </a:p>
          <a:p>
            <a:pPr marL="742950" lvl="1" indent="-285750">
              <a:buFont typeface="Arial"/>
              <a:buChar char="•"/>
            </a:pPr>
            <a:r>
              <a:rPr lang="en-US" dirty="0">
                <a:latin typeface="Times New Roman"/>
                <a:ea typeface="+mn-lt"/>
                <a:cs typeface="+mn-lt"/>
              </a:rPr>
              <a:t>Demonstrated encoding using </a:t>
            </a:r>
            <a:r>
              <a:rPr lang="en-US" err="1">
                <a:latin typeface="Times New Roman"/>
                <a:cs typeface="Times New Roman"/>
              </a:rPr>
              <a:t>LabelEncoder</a:t>
            </a:r>
            <a:r>
              <a:rPr lang="en-US" dirty="0">
                <a:latin typeface="Times New Roman"/>
                <a:ea typeface="+mn-lt"/>
                <a:cs typeface="+mn-lt"/>
              </a:rPr>
              <a:t> and </a:t>
            </a:r>
            <a:r>
              <a:rPr lang="en-US" err="1">
                <a:latin typeface="Times New Roman"/>
                <a:cs typeface="Times New Roman"/>
              </a:rPr>
              <a:t>pd.get_dummies</a:t>
            </a:r>
            <a:r>
              <a:rPr lang="en-US" dirty="0">
                <a:latin typeface="Times New Roman"/>
                <a:cs typeface="Times New Roman"/>
              </a:rPr>
              <a:t>()</a:t>
            </a:r>
            <a:r>
              <a:rPr lang="en-US" dirty="0">
                <a:latin typeface="Times New Roman"/>
                <a:ea typeface="+mn-lt"/>
                <a:cs typeface="+mn-lt"/>
              </a:rPr>
              <a:t>.</a:t>
            </a:r>
            <a:endParaRPr lang="en-US" dirty="0">
              <a:latin typeface="Times New Roman"/>
              <a:cs typeface="Times New Roman"/>
            </a:endParaRPr>
          </a:p>
          <a:p>
            <a:pPr algn="l"/>
            <a:endParaRPr lang="en-US" dirty="0">
              <a:latin typeface="Times New Roman"/>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428512"/>
            <a:ext cx="4334510" cy="482600"/>
          </a:xfrm>
          <a:prstGeom prst="rect">
            <a:avLst/>
          </a:prstGeom>
        </p:spPr>
        <p:txBody>
          <a:bodyPr vert="horz" wrap="square" lIns="0" tIns="12700" rIns="0" bIns="0" rtlCol="0">
            <a:spAutoFit/>
          </a:bodyPr>
          <a:lstStyle/>
          <a:p>
            <a:pPr marL="12700">
              <a:lnSpc>
                <a:spcPct val="100000"/>
              </a:lnSpc>
              <a:spcBef>
                <a:spcPts val="100"/>
              </a:spcBef>
            </a:pPr>
            <a:r>
              <a:rPr sz="3000" b="1" spc="-10">
                <a:latin typeface="Times New Roman"/>
                <a:cs typeface="Times New Roman"/>
              </a:rPr>
              <a:t>Explorator</a:t>
            </a:r>
            <a:r>
              <a:rPr sz="3000" b="1">
                <a:latin typeface="Times New Roman"/>
                <a:cs typeface="Times New Roman"/>
              </a:rPr>
              <a:t>y</a:t>
            </a:r>
            <a:r>
              <a:rPr sz="3000" b="1" spc="-10">
                <a:latin typeface="Times New Roman"/>
                <a:cs typeface="Times New Roman"/>
              </a:rPr>
              <a:t> </a:t>
            </a:r>
            <a:r>
              <a:rPr sz="3000" b="1" spc="-5">
                <a:latin typeface="Times New Roman"/>
                <a:cs typeface="Times New Roman"/>
              </a:rPr>
              <a:t>Dat</a:t>
            </a:r>
            <a:r>
              <a:rPr sz="3000" b="1">
                <a:latin typeface="Times New Roman"/>
                <a:cs typeface="Times New Roman"/>
              </a:rPr>
              <a:t>a</a:t>
            </a:r>
            <a:r>
              <a:rPr sz="3000" b="1" spc="-170">
                <a:latin typeface="Times New Roman"/>
                <a:cs typeface="Times New Roman"/>
              </a:rPr>
              <a:t> </a:t>
            </a:r>
            <a:r>
              <a:rPr sz="3000" b="1" spc="-5">
                <a:latin typeface="Times New Roman"/>
                <a:cs typeface="Times New Roman"/>
              </a:rPr>
              <a:t>Analysis</a:t>
            </a:r>
            <a:endParaRPr sz="3000">
              <a:latin typeface="Times New Roman"/>
              <a:cs typeface="Times New Roman"/>
            </a:endParaRPr>
          </a:p>
        </p:txBody>
      </p:sp>
      <p:sp>
        <p:nvSpPr>
          <p:cNvPr id="3" name="object 3"/>
          <p:cNvSpPr txBox="1"/>
          <p:nvPr/>
        </p:nvSpPr>
        <p:spPr>
          <a:xfrm>
            <a:off x="300038" y="1022358"/>
            <a:ext cx="5292090" cy="299720"/>
          </a:xfrm>
          <a:prstGeom prst="rect">
            <a:avLst/>
          </a:prstGeom>
        </p:spPr>
        <p:txBody>
          <a:bodyPr vert="horz" wrap="square" lIns="0" tIns="12700" rIns="0" bIns="0" rtlCol="0">
            <a:spAutoFit/>
          </a:bodyPr>
          <a:lstStyle/>
          <a:p>
            <a:pPr marL="12700">
              <a:lnSpc>
                <a:spcPct val="100000"/>
              </a:lnSpc>
              <a:spcBef>
                <a:spcPts val="100"/>
              </a:spcBef>
            </a:pPr>
            <a:r>
              <a:rPr sz="1800" spc="-5">
                <a:latin typeface="Times New Roman"/>
                <a:cs typeface="Times New Roman"/>
              </a:rPr>
              <a:t>Feature</a:t>
            </a:r>
            <a:r>
              <a:rPr sz="1800" spc="-15">
                <a:latin typeface="Times New Roman"/>
                <a:cs typeface="Times New Roman"/>
              </a:rPr>
              <a:t> </a:t>
            </a:r>
            <a:r>
              <a:rPr sz="1800" spc="-5">
                <a:latin typeface="Times New Roman"/>
                <a:cs typeface="Times New Roman"/>
              </a:rPr>
              <a:t>Engineering</a:t>
            </a:r>
            <a:r>
              <a:rPr sz="1800" spc="-10">
                <a:latin typeface="Times New Roman"/>
                <a:cs typeface="Times New Roman"/>
              </a:rPr>
              <a:t> </a:t>
            </a:r>
            <a:r>
              <a:rPr sz="1800">
                <a:latin typeface="Times New Roman"/>
                <a:cs typeface="Times New Roman"/>
              </a:rPr>
              <a:t>-</a:t>
            </a:r>
            <a:r>
              <a:rPr sz="1800" spc="-10">
                <a:latin typeface="Times New Roman"/>
                <a:cs typeface="Times New Roman"/>
              </a:rPr>
              <a:t> </a:t>
            </a:r>
            <a:r>
              <a:rPr sz="1800" spc="-5">
                <a:latin typeface="Times New Roman"/>
                <a:cs typeface="Times New Roman"/>
              </a:rPr>
              <a:t>Plotting</a:t>
            </a:r>
            <a:r>
              <a:rPr sz="1800" spc="-10">
                <a:latin typeface="Times New Roman"/>
                <a:cs typeface="Times New Roman"/>
              </a:rPr>
              <a:t> </a:t>
            </a:r>
            <a:r>
              <a:rPr sz="1800" spc="-5">
                <a:latin typeface="Times New Roman"/>
                <a:cs typeface="Times New Roman"/>
              </a:rPr>
              <a:t>the</a:t>
            </a:r>
            <a:r>
              <a:rPr sz="1800" spc="-15">
                <a:latin typeface="Times New Roman"/>
                <a:cs typeface="Times New Roman"/>
              </a:rPr>
              <a:t> </a:t>
            </a:r>
            <a:r>
              <a:rPr sz="1800">
                <a:latin typeface="Times New Roman"/>
                <a:cs typeface="Times New Roman"/>
              </a:rPr>
              <a:t>graph</a:t>
            </a:r>
            <a:r>
              <a:rPr sz="1800" spc="-5">
                <a:latin typeface="Times New Roman"/>
                <a:cs typeface="Times New Roman"/>
              </a:rPr>
              <a:t> </a:t>
            </a:r>
            <a:r>
              <a:rPr sz="1800">
                <a:latin typeface="Times New Roman"/>
                <a:cs typeface="Times New Roman"/>
              </a:rPr>
              <a:t>for</a:t>
            </a:r>
            <a:r>
              <a:rPr sz="1800" spc="-10">
                <a:latin typeface="Times New Roman"/>
                <a:cs typeface="Times New Roman"/>
              </a:rPr>
              <a:t> </a:t>
            </a:r>
            <a:r>
              <a:rPr sz="1800" spc="-5">
                <a:latin typeface="Times New Roman"/>
                <a:cs typeface="Times New Roman"/>
              </a:rPr>
              <a:t>all</a:t>
            </a:r>
            <a:r>
              <a:rPr sz="1800" spc="-10">
                <a:latin typeface="Times New Roman"/>
                <a:cs typeface="Times New Roman"/>
              </a:rPr>
              <a:t> </a:t>
            </a:r>
            <a:r>
              <a:rPr sz="1800" spc="-5">
                <a:latin typeface="Times New Roman"/>
                <a:cs typeface="Times New Roman"/>
              </a:rPr>
              <a:t>the</a:t>
            </a:r>
            <a:r>
              <a:rPr sz="1800" spc="-15">
                <a:latin typeface="Times New Roman"/>
                <a:cs typeface="Times New Roman"/>
              </a:rPr>
              <a:t> </a:t>
            </a:r>
            <a:r>
              <a:rPr sz="1800">
                <a:latin typeface="Times New Roman"/>
                <a:cs typeface="Times New Roman"/>
              </a:rPr>
              <a:t>values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8</a:t>
            </a:fld>
            <a:endParaRPr/>
          </a:p>
        </p:txBody>
      </p:sp>
      <p:pic>
        <p:nvPicPr>
          <p:cNvPr id="7" name="Picture 6" descr="A screenshot of a graph&#10;&#10;Description automatically generated">
            <a:extLst>
              <a:ext uri="{FF2B5EF4-FFF2-40B4-BE49-F238E27FC236}">
                <a16:creationId xmlns:a16="http://schemas.microsoft.com/office/drawing/2014/main" id="{3072A105-8A04-E431-E826-F5ECCC3988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437282"/>
            <a:ext cx="6557962" cy="451767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1022358"/>
            <a:ext cx="8357234" cy="748923"/>
          </a:xfrm>
          <a:prstGeom prst="rect">
            <a:avLst/>
          </a:prstGeom>
        </p:spPr>
        <p:txBody>
          <a:bodyPr vert="horz" wrap="square" lIns="0" tIns="12700" rIns="0" bIns="0" rtlCol="0">
            <a:spAutoFit/>
          </a:bodyPr>
          <a:lstStyle/>
          <a:p>
            <a:pPr marL="12700">
              <a:lnSpc>
                <a:spcPct val="100000"/>
              </a:lnSpc>
              <a:spcBef>
                <a:spcPts val="100"/>
              </a:spcBef>
            </a:pPr>
            <a:r>
              <a:rPr sz="1800" spc="-5">
                <a:latin typeface="Times New Roman"/>
                <a:cs typeface="Times New Roman"/>
              </a:rPr>
              <a:t>Feature</a:t>
            </a:r>
            <a:r>
              <a:rPr sz="1800" spc="-30">
                <a:latin typeface="Times New Roman"/>
                <a:cs typeface="Times New Roman"/>
              </a:rPr>
              <a:t> </a:t>
            </a:r>
            <a:r>
              <a:rPr sz="1800" spc="-5">
                <a:latin typeface="Times New Roman"/>
                <a:cs typeface="Times New Roman"/>
              </a:rPr>
              <a:t>Engineering</a:t>
            </a:r>
            <a:r>
              <a:rPr sz="1800" spc="-25">
                <a:latin typeface="Times New Roman"/>
                <a:cs typeface="Times New Roman"/>
              </a:rPr>
              <a:t> </a:t>
            </a:r>
            <a:r>
              <a:rPr sz="1800">
                <a:latin typeface="Times New Roman"/>
                <a:cs typeface="Times New Roman"/>
              </a:rPr>
              <a:t>-</a:t>
            </a:r>
            <a:r>
              <a:rPr sz="1800" spc="-20">
                <a:latin typeface="Times New Roman"/>
                <a:cs typeface="Times New Roman"/>
              </a:rPr>
              <a:t> </a:t>
            </a:r>
            <a:r>
              <a:rPr sz="1800" spc="-5">
                <a:latin typeface="Times New Roman"/>
                <a:cs typeface="Times New Roman"/>
              </a:rPr>
              <a:t>Normalisation</a:t>
            </a:r>
            <a:endParaRPr sz="1800">
              <a:latin typeface="Times New Roman"/>
              <a:cs typeface="Times New Roman"/>
            </a:endParaRPr>
          </a:p>
          <a:p>
            <a:pPr>
              <a:lnSpc>
                <a:spcPct val="100000"/>
              </a:lnSpc>
              <a:spcBef>
                <a:spcPts val="50"/>
              </a:spcBef>
            </a:pPr>
            <a:endParaRPr sz="2900">
              <a:latin typeface="Times New Roman"/>
              <a:cs typeface="Times New Roman"/>
            </a:endParaRPr>
          </a:p>
        </p:txBody>
      </p:sp>
      <p:sp>
        <p:nvSpPr>
          <p:cNvPr id="3" name="object 3"/>
          <p:cNvSpPr txBox="1">
            <a:spLocks noGrp="1"/>
          </p:cNvSpPr>
          <p:nvPr>
            <p:ph type="title"/>
          </p:nvPr>
        </p:nvSpPr>
        <p:spPr>
          <a:xfrm>
            <a:off x="300038" y="428512"/>
            <a:ext cx="4334510" cy="482600"/>
          </a:xfrm>
          <a:prstGeom prst="rect">
            <a:avLst/>
          </a:prstGeom>
        </p:spPr>
        <p:txBody>
          <a:bodyPr vert="horz" wrap="square" lIns="0" tIns="12700" rIns="0" bIns="0" rtlCol="0">
            <a:spAutoFit/>
          </a:bodyPr>
          <a:lstStyle/>
          <a:p>
            <a:pPr marL="12700">
              <a:lnSpc>
                <a:spcPct val="100000"/>
              </a:lnSpc>
              <a:spcBef>
                <a:spcPts val="100"/>
              </a:spcBef>
            </a:pPr>
            <a:r>
              <a:rPr spc="-10"/>
              <a:t>Explorator</a:t>
            </a:r>
            <a:r>
              <a:t>y</a:t>
            </a:r>
            <a:r>
              <a:rPr spc="-10"/>
              <a:t> </a:t>
            </a:r>
            <a:r>
              <a:rPr spc="-5"/>
              <a:t>Dat</a:t>
            </a:r>
            <a:r>
              <a:t>a</a:t>
            </a:r>
            <a:r>
              <a:rPr spc="-170"/>
              <a:t> </a:t>
            </a:r>
            <a:r>
              <a:rPr spc="-5"/>
              <a:t>Analysis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9</a:t>
            </a:fld>
            <a:endParaRPr/>
          </a:p>
        </p:txBody>
      </p:sp>
      <p:pic>
        <p:nvPicPr>
          <p:cNvPr id="7170" name="Picture 2">
            <a:extLst>
              <a:ext uri="{FF2B5EF4-FFF2-40B4-BE49-F238E27FC236}">
                <a16:creationId xmlns:a16="http://schemas.microsoft.com/office/drawing/2014/main" id="{893311C8-DF67-70D7-A191-AE33B26C8B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581400"/>
            <a:ext cx="9144000" cy="23891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0038" y="428512"/>
            <a:ext cx="4334510" cy="482600"/>
          </a:xfrm>
          <a:prstGeom prst="rect">
            <a:avLst/>
          </a:prstGeom>
        </p:spPr>
        <p:txBody>
          <a:bodyPr vert="horz" wrap="square" lIns="0" tIns="12700" rIns="0" bIns="0" rtlCol="0">
            <a:spAutoFit/>
          </a:bodyPr>
          <a:lstStyle/>
          <a:p>
            <a:pPr marL="12700">
              <a:lnSpc>
                <a:spcPct val="100000"/>
              </a:lnSpc>
              <a:spcBef>
                <a:spcPts val="100"/>
              </a:spcBef>
            </a:pPr>
            <a:r>
              <a:rPr sz="3000" b="1" spc="-10">
                <a:latin typeface="Times New Roman"/>
                <a:cs typeface="Times New Roman"/>
              </a:rPr>
              <a:t>Explorator</a:t>
            </a:r>
            <a:r>
              <a:rPr sz="3000" b="1">
                <a:latin typeface="Times New Roman"/>
                <a:cs typeface="Times New Roman"/>
              </a:rPr>
              <a:t>y</a:t>
            </a:r>
            <a:r>
              <a:rPr sz="3000" b="1" spc="-10">
                <a:latin typeface="Times New Roman"/>
                <a:cs typeface="Times New Roman"/>
              </a:rPr>
              <a:t> </a:t>
            </a:r>
            <a:r>
              <a:rPr sz="3000" b="1" spc="-5">
                <a:latin typeface="Times New Roman"/>
                <a:cs typeface="Times New Roman"/>
              </a:rPr>
              <a:t>Dat</a:t>
            </a:r>
            <a:r>
              <a:rPr sz="3000" b="1">
                <a:latin typeface="Times New Roman"/>
                <a:cs typeface="Times New Roman"/>
              </a:rPr>
              <a:t>a</a:t>
            </a:r>
            <a:r>
              <a:rPr sz="3000" b="1" spc="-170">
                <a:latin typeface="Times New Roman"/>
                <a:cs typeface="Times New Roman"/>
              </a:rPr>
              <a:t> </a:t>
            </a:r>
            <a:r>
              <a:rPr sz="3000" b="1" spc="-5">
                <a:latin typeface="Times New Roman"/>
                <a:cs typeface="Times New Roman"/>
              </a:rPr>
              <a:t>Analysis</a:t>
            </a:r>
            <a:endParaRPr sz="30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10</a:t>
            </a:fld>
            <a:endParaRPr/>
          </a:p>
        </p:txBody>
      </p:sp>
      <p:sp>
        <p:nvSpPr>
          <p:cNvPr id="4" name="object 4"/>
          <p:cNvSpPr txBox="1"/>
          <p:nvPr/>
        </p:nvSpPr>
        <p:spPr>
          <a:xfrm>
            <a:off x="300038" y="1022358"/>
            <a:ext cx="2671762" cy="566822"/>
          </a:xfrm>
          <a:prstGeom prst="rect">
            <a:avLst/>
          </a:prstGeom>
        </p:spPr>
        <p:txBody>
          <a:bodyPr vert="horz" wrap="square" lIns="0" tIns="12700" rIns="0" bIns="0" rtlCol="0">
            <a:spAutoFit/>
          </a:bodyPr>
          <a:lstStyle/>
          <a:p>
            <a:pPr marL="12700" marR="5080">
              <a:lnSpc>
                <a:spcPct val="100000"/>
              </a:lnSpc>
              <a:spcBef>
                <a:spcPts val="100"/>
              </a:spcBef>
            </a:pPr>
            <a:r>
              <a:rPr sz="1800" spc="-5">
                <a:latin typeface="Times New Roman"/>
                <a:cs typeface="Times New Roman"/>
              </a:rPr>
              <a:t>Feature</a:t>
            </a:r>
            <a:r>
              <a:rPr sz="1800" spc="-50">
                <a:latin typeface="Times New Roman"/>
                <a:cs typeface="Times New Roman"/>
              </a:rPr>
              <a:t> </a:t>
            </a:r>
            <a:r>
              <a:rPr sz="1800" spc="-5">
                <a:latin typeface="Times New Roman"/>
                <a:cs typeface="Times New Roman"/>
              </a:rPr>
              <a:t>Engineering</a:t>
            </a:r>
            <a:r>
              <a:rPr sz="1800" spc="-45">
                <a:latin typeface="Times New Roman"/>
                <a:cs typeface="Times New Roman"/>
              </a:rPr>
              <a:t> </a:t>
            </a:r>
            <a:r>
              <a:rPr sz="1800">
                <a:latin typeface="Times New Roman"/>
                <a:cs typeface="Times New Roman"/>
              </a:rPr>
              <a:t>- </a:t>
            </a:r>
            <a:r>
              <a:rPr sz="1800" spc="-434">
                <a:latin typeface="Times New Roman"/>
                <a:cs typeface="Times New Roman"/>
              </a:rPr>
              <a:t> </a:t>
            </a:r>
            <a:r>
              <a:rPr sz="1800" spc="-5">
                <a:latin typeface="Times New Roman"/>
                <a:cs typeface="Times New Roman"/>
              </a:rPr>
              <a:t>Correlation</a:t>
            </a:r>
            <a:r>
              <a:rPr sz="1800" spc="-55">
                <a:latin typeface="Times New Roman"/>
                <a:cs typeface="Times New Roman"/>
              </a:rPr>
              <a:t> </a:t>
            </a:r>
            <a:r>
              <a:rPr lang="en-US" sz="1800" spc="-5">
                <a:latin typeface="Times New Roman"/>
                <a:cs typeface="Times New Roman"/>
              </a:rPr>
              <a:t>Heart failure </a:t>
            </a:r>
            <a:endParaRPr sz="1800">
              <a:latin typeface="Times New Roman"/>
              <a:cs typeface="Times New Roman"/>
            </a:endParaRPr>
          </a:p>
        </p:txBody>
      </p:sp>
      <p:pic>
        <p:nvPicPr>
          <p:cNvPr id="7" name="Picture 6" descr="A screen shot of a heat loss graph&#10;&#10;Description automatically generated">
            <a:extLst>
              <a:ext uri="{FF2B5EF4-FFF2-40B4-BE49-F238E27FC236}">
                <a16:creationId xmlns:a16="http://schemas.microsoft.com/office/drawing/2014/main" id="{F29A946B-051A-C453-D8D2-FE3C7F50A902}"/>
              </a:ext>
            </a:extLst>
          </p:cNvPr>
          <p:cNvPicPr>
            <a:picLocks noChangeAspect="1"/>
          </p:cNvPicPr>
          <p:nvPr/>
        </p:nvPicPr>
        <p:blipFill rotWithShape="1">
          <a:blip r:embed="rId2">
            <a:extLst>
              <a:ext uri="{28A0092B-C50C-407E-A947-70E740481C1C}">
                <a14:useLocalDpi xmlns:a14="http://schemas.microsoft.com/office/drawing/2010/main" val="0"/>
              </a:ext>
            </a:extLst>
          </a:blip>
          <a:srcRect t="7739"/>
          <a:stretch/>
        </p:blipFill>
        <p:spPr>
          <a:xfrm>
            <a:off x="2895600" y="1905000"/>
            <a:ext cx="5600700" cy="367919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1152359"/>
            <a:ext cx="8138159" cy="3580467"/>
          </a:xfrm>
          <a:prstGeom prst="rect">
            <a:avLst/>
          </a:prstGeom>
        </p:spPr>
        <p:txBody>
          <a:bodyPr vert="horz" wrap="square" lIns="0" tIns="12700" rIns="0" bIns="0" rtlCol="0" anchor="t">
            <a:spAutoFit/>
          </a:bodyPr>
          <a:lstStyle/>
          <a:p>
            <a:pPr marL="12700">
              <a:spcBef>
                <a:spcPts val="100"/>
              </a:spcBef>
            </a:pPr>
            <a:r>
              <a:rPr lang="en-US" sz="2000" b="1" dirty="0">
                <a:latin typeface="Times New Roman"/>
                <a:cs typeface="Times New Roman"/>
              </a:rPr>
              <a:t>Box Plots for Heart Disease Analysis</a:t>
            </a:r>
            <a:endParaRPr lang="en-US" sz="2000" dirty="0">
              <a:latin typeface="Times New Roman"/>
              <a:cs typeface="Times New Roman"/>
            </a:endParaRPr>
          </a:p>
          <a:p>
            <a:pPr>
              <a:lnSpc>
                <a:spcPct val="100000"/>
              </a:lnSpc>
              <a:spcBef>
                <a:spcPts val="40"/>
              </a:spcBef>
            </a:pPr>
            <a:endParaRPr lang="en-US" sz="2700" dirty="0">
              <a:latin typeface="Times New Roman"/>
              <a:cs typeface="Times New Roman"/>
            </a:endParaRPr>
          </a:p>
          <a:p>
            <a:pPr marL="160655">
              <a:tabLst>
                <a:tab pos="926465" algn="l"/>
                <a:tab pos="927100" algn="l"/>
              </a:tabLst>
            </a:pPr>
            <a:r>
              <a:rPr lang="en-US" sz="1600" dirty="0">
                <a:latin typeface="Times New Roman"/>
                <a:cs typeface="Times New Roman"/>
              </a:rPr>
              <a:t>In this analysis, we employ box plots, a powerful visualization tool, to gain insights into the distribution of key quantitative variables in relation to Heart Disease. Box plots succinctly summarize the five-number summary—minimum, first quartile, median, third quartile, and maximum—providing a comprehensive view of the dataset. The central rectangle represents the interquartile range, while whiskers extend to the minimum and maximum values.</a:t>
            </a:r>
          </a:p>
          <a:p>
            <a:pPr marL="160655">
              <a:lnSpc>
                <a:spcPct val="100000"/>
              </a:lnSpc>
            </a:pPr>
            <a:endParaRPr lang="en-US" sz="1600" dirty="0">
              <a:latin typeface="Times New Roman"/>
              <a:cs typeface="Times New Roman"/>
            </a:endParaRPr>
          </a:p>
          <a:p>
            <a:r>
              <a:rPr lang="en-US" b="1" dirty="0">
                <a:latin typeface="Times New Roman"/>
                <a:cs typeface="Times New Roman"/>
              </a:rPr>
              <a:t>Age vs. Heart Disease</a:t>
            </a:r>
            <a:endParaRPr lang="en-US" dirty="0">
              <a:latin typeface="Times New Roman"/>
              <a:cs typeface="Times New Roman"/>
            </a:endParaRPr>
          </a:p>
          <a:p>
            <a:pPr marL="285750" indent="-285750">
              <a:buFont typeface="Arial,Sans-Serif"/>
              <a:buChar char="•"/>
            </a:pPr>
            <a:r>
              <a:rPr lang="en-US" dirty="0">
                <a:latin typeface="Times New Roman"/>
                <a:cs typeface="Times New Roman"/>
              </a:rPr>
              <a:t>Visualization of how age varies concerning </a:t>
            </a:r>
            <a:r>
              <a:rPr lang="en-US" sz="1800" dirty="0">
                <a:latin typeface="Times New Roman"/>
                <a:cs typeface="Times New Roman"/>
              </a:rPr>
              <a:t>the </a:t>
            </a:r>
            <a:r>
              <a:rPr lang="en-US" dirty="0">
                <a:latin typeface="Times New Roman"/>
                <a:cs typeface="Times New Roman"/>
              </a:rPr>
              <a:t>presence or absence of Heart Disease.</a:t>
            </a:r>
          </a:p>
          <a:p>
            <a:pPr marL="285750" indent="-285750">
              <a:buFont typeface="Arial,Sans-Serif"/>
              <a:buChar char="•"/>
            </a:pPr>
            <a:r>
              <a:rPr lang="en-US" dirty="0">
                <a:latin typeface="Times New Roman"/>
                <a:cs typeface="Times New Roman"/>
              </a:rPr>
              <a:t>Identification </a:t>
            </a:r>
            <a:r>
              <a:rPr lang="en-US" sz="1800" dirty="0">
                <a:latin typeface="Times New Roman"/>
                <a:cs typeface="Times New Roman"/>
              </a:rPr>
              <a:t>of </a:t>
            </a:r>
            <a:r>
              <a:rPr lang="en-US" dirty="0">
                <a:latin typeface="Times New Roman"/>
                <a:cs typeface="Times New Roman"/>
              </a:rPr>
              <a:t>quartiles, median, </a:t>
            </a:r>
            <a:r>
              <a:rPr lang="en-US" sz="1800" dirty="0">
                <a:latin typeface="Times New Roman"/>
                <a:cs typeface="Times New Roman"/>
              </a:rPr>
              <a:t>and </a:t>
            </a:r>
            <a:r>
              <a:rPr lang="en-US" dirty="0">
                <a:latin typeface="Times New Roman"/>
                <a:cs typeface="Times New Roman"/>
              </a:rPr>
              <a:t>potential outliers</a:t>
            </a:r>
            <a:r>
              <a:rPr lang="en-US" sz="1800" dirty="0">
                <a:latin typeface="Times New Roman"/>
                <a:cs typeface="Times New Roman"/>
              </a:rPr>
              <a:t>.</a:t>
            </a:r>
          </a:p>
          <a:p>
            <a:pPr marL="160655">
              <a:lnSpc>
                <a:spcPct val="100000"/>
              </a:lnSpc>
            </a:pPr>
            <a:endParaRPr lang="en-US" sz="1600" dirty="0">
              <a:latin typeface="Times New Roman"/>
              <a:cs typeface="Times New Roman"/>
            </a:endParaRPr>
          </a:p>
          <a:p>
            <a:pPr marL="12700">
              <a:spcBef>
                <a:spcPts val="100"/>
              </a:spcBef>
            </a:pPr>
            <a:endParaRPr sz="1800" dirty="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11</a:t>
            </a:fld>
            <a:endParaRPr/>
          </a:p>
        </p:txBody>
      </p:sp>
      <p:sp>
        <p:nvSpPr>
          <p:cNvPr id="3" name="object 3"/>
          <p:cNvSpPr txBox="1">
            <a:spLocks noGrp="1"/>
          </p:cNvSpPr>
          <p:nvPr>
            <p:ph type="title"/>
          </p:nvPr>
        </p:nvSpPr>
        <p:spPr>
          <a:xfrm>
            <a:off x="300050" y="553485"/>
            <a:ext cx="4334510" cy="482600"/>
          </a:xfrm>
          <a:prstGeom prst="rect">
            <a:avLst/>
          </a:prstGeom>
        </p:spPr>
        <p:txBody>
          <a:bodyPr vert="horz" wrap="square" lIns="0" tIns="12700" rIns="0" bIns="0" rtlCol="0">
            <a:spAutoFit/>
          </a:bodyPr>
          <a:lstStyle/>
          <a:p>
            <a:pPr marL="12700">
              <a:lnSpc>
                <a:spcPct val="100000"/>
              </a:lnSpc>
              <a:spcBef>
                <a:spcPts val="100"/>
              </a:spcBef>
            </a:pPr>
            <a:r>
              <a:rPr spc="-10"/>
              <a:t>Explorator</a:t>
            </a:r>
            <a:r>
              <a:t>y</a:t>
            </a:r>
            <a:r>
              <a:rPr spc="-10"/>
              <a:t> </a:t>
            </a:r>
            <a:r>
              <a:rPr spc="-5"/>
              <a:t>Dat</a:t>
            </a:r>
            <a:r>
              <a:t>a</a:t>
            </a:r>
            <a:r>
              <a:rPr spc="-170"/>
              <a:t> </a:t>
            </a:r>
            <a:r>
              <a:rPr spc="-5"/>
              <a:t>Analysis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1021343"/>
            <a:ext cx="8444865" cy="3336811"/>
          </a:xfrm>
          <a:prstGeom prst="rect">
            <a:avLst/>
          </a:prstGeom>
        </p:spPr>
        <p:txBody>
          <a:bodyPr vert="horz" wrap="square" lIns="0" tIns="12700" rIns="0" bIns="0" rtlCol="0" anchor="t">
            <a:spAutoFit/>
          </a:bodyPr>
          <a:lstStyle/>
          <a:p>
            <a:pPr marL="12700">
              <a:spcBef>
                <a:spcPts val="100"/>
              </a:spcBef>
            </a:pPr>
            <a:endParaRPr lang="en-US" b="1" spc="-5" dirty="0">
              <a:latin typeface="Times New Roman"/>
              <a:ea typeface="+mn-lt"/>
              <a:cs typeface="+mn-lt"/>
            </a:endParaRPr>
          </a:p>
          <a:p>
            <a:pPr marL="285750" indent="-285750">
              <a:buFont typeface="Arial"/>
              <a:buChar char="•"/>
              <a:tabLst>
                <a:tab pos="469265" algn="l"/>
                <a:tab pos="469900" algn="l"/>
              </a:tabLst>
            </a:pPr>
            <a:r>
              <a:rPr lang="en-US" b="1" dirty="0">
                <a:latin typeface="Times New Roman"/>
                <a:ea typeface="+mn-lt"/>
                <a:cs typeface="+mn-lt"/>
              </a:rPr>
              <a:t>Resting Blood Pressure vs. Heart Disease</a:t>
            </a:r>
            <a:endParaRPr lang="en-US" dirty="0">
              <a:latin typeface="Times New Roman"/>
              <a:cs typeface="Times New Roman"/>
            </a:endParaRPr>
          </a:p>
          <a:p>
            <a:pPr marL="742950" lvl="1" indent="-285750">
              <a:buFont typeface="Arial"/>
              <a:buChar char="•"/>
              <a:tabLst>
                <a:tab pos="469265" algn="l"/>
                <a:tab pos="469900" algn="l"/>
              </a:tabLst>
            </a:pPr>
            <a:r>
              <a:rPr lang="en-US" dirty="0">
                <a:latin typeface="Times New Roman"/>
                <a:ea typeface="+mn-lt"/>
                <a:cs typeface="+mn-lt"/>
              </a:rPr>
              <a:t>Comparison of Resting Blood Pressure distribution based on Heart Disease status.</a:t>
            </a:r>
            <a:endParaRPr lang="en-US" dirty="0">
              <a:latin typeface="Times New Roman"/>
              <a:cs typeface="Times New Roman"/>
            </a:endParaRPr>
          </a:p>
          <a:p>
            <a:pPr marL="742950" lvl="1" indent="-285750">
              <a:buFont typeface="Arial"/>
              <a:buChar char="•"/>
              <a:tabLst>
                <a:tab pos="469265" algn="l"/>
                <a:tab pos="469900" algn="l"/>
              </a:tabLst>
            </a:pPr>
            <a:r>
              <a:rPr lang="en-US" dirty="0">
                <a:latin typeface="Times New Roman"/>
                <a:ea typeface="+mn-lt"/>
                <a:cs typeface="+mn-lt"/>
              </a:rPr>
              <a:t>Utilization of color to differentiate distributions by gender.</a:t>
            </a:r>
            <a:endParaRPr lang="en-US" dirty="0">
              <a:latin typeface="Times New Roman"/>
              <a:cs typeface="Times New Roman"/>
            </a:endParaRPr>
          </a:p>
          <a:p>
            <a:pPr marL="285750" indent="-285750">
              <a:buFont typeface="Arial"/>
              <a:buChar char="•"/>
              <a:tabLst>
                <a:tab pos="469265" algn="l"/>
                <a:tab pos="469900" algn="l"/>
              </a:tabLst>
            </a:pPr>
            <a:r>
              <a:rPr lang="en-US" b="1" dirty="0">
                <a:latin typeface="Times New Roman"/>
                <a:ea typeface="+mn-lt"/>
                <a:cs typeface="+mn-lt"/>
              </a:rPr>
              <a:t>Cholesterol vs. Heart Disease</a:t>
            </a:r>
            <a:endParaRPr lang="en-US" dirty="0">
              <a:latin typeface="Times New Roman"/>
              <a:ea typeface="+mn-lt"/>
              <a:cs typeface="+mn-lt"/>
            </a:endParaRPr>
          </a:p>
          <a:p>
            <a:pPr marL="742950" lvl="1" indent="-285750">
              <a:buFont typeface="Arial"/>
              <a:buChar char="•"/>
              <a:tabLst>
                <a:tab pos="469265" algn="l"/>
                <a:tab pos="469900" algn="l"/>
              </a:tabLst>
            </a:pPr>
            <a:r>
              <a:rPr lang="en-US" dirty="0">
                <a:latin typeface="Times New Roman"/>
                <a:ea typeface="+mn-lt"/>
                <a:cs typeface="+mn-lt"/>
              </a:rPr>
              <a:t>Examination of Cholesterol distribution concerning Heart Disease.</a:t>
            </a:r>
            <a:endParaRPr lang="en-US" dirty="0">
              <a:latin typeface="Times New Roman"/>
              <a:cs typeface="Times New Roman"/>
            </a:endParaRPr>
          </a:p>
          <a:p>
            <a:pPr marL="742950" lvl="1" indent="-285750">
              <a:buFont typeface="Arial"/>
              <a:buChar char="•"/>
              <a:tabLst>
                <a:tab pos="469265" algn="l"/>
                <a:tab pos="469900" algn="l"/>
              </a:tabLst>
            </a:pPr>
            <a:r>
              <a:rPr lang="en-US" dirty="0">
                <a:latin typeface="Times New Roman"/>
                <a:ea typeface="+mn-lt"/>
                <a:cs typeface="+mn-lt"/>
              </a:rPr>
              <a:t>Insights into the spread and central tendency of Cholesterol levels.</a:t>
            </a:r>
            <a:endParaRPr lang="en-US" dirty="0">
              <a:latin typeface="Times New Roman"/>
              <a:cs typeface="Times New Roman"/>
            </a:endParaRPr>
          </a:p>
          <a:p>
            <a:pPr marL="285750" indent="-285750">
              <a:buFont typeface="Arial"/>
              <a:buChar char="•"/>
              <a:tabLst>
                <a:tab pos="469265" algn="l"/>
                <a:tab pos="469900" algn="l"/>
              </a:tabLst>
            </a:pPr>
            <a:r>
              <a:rPr lang="en-US" b="1" err="1">
                <a:latin typeface="Times New Roman"/>
                <a:ea typeface="+mn-lt"/>
                <a:cs typeface="+mn-lt"/>
              </a:rPr>
              <a:t>Oldpeak</a:t>
            </a:r>
            <a:r>
              <a:rPr lang="en-US" b="1" dirty="0">
                <a:latin typeface="Times New Roman"/>
                <a:ea typeface="+mn-lt"/>
                <a:cs typeface="+mn-lt"/>
              </a:rPr>
              <a:t> and </a:t>
            </a:r>
            <a:r>
              <a:rPr lang="en-US" b="1" err="1">
                <a:latin typeface="Times New Roman"/>
                <a:ea typeface="+mn-lt"/>
                <a:cs typeface="+mn-lt"/>
              </a:rPr>
              <a:t>MaxHR</a:t>
            </a:r>
            <a:r>
              <a:rPr lang="en-US" b="1" dirty="0">
                <a:latin typeface="Times New Roman"/>
                <a:ea typeface="+mn-lt"/>
                <a:cs typeface="+mn-lt"/>
              </a:rPr>
              <a:t> vs. Heart Disease</a:t>
            </a:r>
            <a:endParaRPr lang="en-US" dirty="0">
              <a:latin typeface="Times New Roman"/>
              <a:cs typeface="Times New Roman"/>
            </a:endParaRPr>
          </a:p>
          <a:p>
            <a:pPr marL="742950" lvl="1" indent="-285750">
              <a:buFont typeface="Arial"/>
              <a:buChar char="•"/>
              <a:tabLst>
                <a:tab pos="469265" algn="l"/>
                <a:tab pos="469900" algn="l"/>
              </a:tabLst>
            </a:pPr>
            <a:r>
              <a:rPr lang="en-US" dirty="0">
                <a:latin typeface="Times New Roman"/>
                <a:ea typeface="+mn-lt"/>
                <a:cs typeface="+mn-lt"/>
              </a:rPr>
              <a:t>Visual analysis of the distribution of </a:t>
            </a:r>
            <a:r>
              <a:rPr lang="en-US" dirty="0" err="1">
                <a:latin typeface="Times New Roman"/>
                <a:ea typeface="+mn-lt"/>
                <a:cs typeface="+mn-lt"/>
              </a:rPr>
              <a:t>Oldpeak</a:t>
            </a:r>
            <a:r>
              <a:rPr lang="en-US" dirty="0">
                <a:latin typeface="Times New Roman"/>
                <a:ea typeface="+mn-lt"/>
                <a:cs typeface="+mn-lt"/>
              </a:rPr>
              <a:t> and </a:t>
            </a:r>
            <a:r>
              <a:rPr lang="en-US" dirty="0" err="1">
                <a:latin typeface="Times New Roman"/>
                <a:ea typeface="+mn-lt"/>
                <a:cs typeface="+mn-lt"/>
              </a:rPr>
              <a:t>MaxHR</a:t>
            </a:r>
            <a:r>
              <a:rPr lang="en-US" dirty="0">
                <a:latin typeface="Times New Roman"/>
                <a:ea typeface="+mn-lt"/>
                <a:cs typeface="+mn-lt"/>
              </a:rPr>
              <a:t> in relation to Heart Disease.</a:t>
            </a:r>
          </a:p>
          <a:p>
            <a:pPr marL="742950" lvl="1" indent="-285750">
              <a:buFont typeface="Arial"/>
              <a:buChar char="•"/>
              <a:tabLst>
                <a:tab pos="469265" algn="l"/>
                <a:tab pos="469900" algn="l"/>
              </a:tabLst>
            </a:pPr>
            <a:r>
              <a:rPr lang="en-US" dirty="0">
                <a:latin typeface="Times New Roman"/>
                <a:ea typeface="+mn-lt"/>
                <a:cs typeface="+mn-lt"/>
              </a:rPr>
              <a:t>Identification of patterns, outliers, and central tendencies.</a:t>
            </a:r>
          </a:p>
          <a:p>
            <a:pPr>
              <a:tabLst>
                <a:tab pos="469265" algn="l"/>
                <a:tab pos="469900" algn="l"/>
              </a:tabLst>
            </a:pPr>
            <a:endParaRPr lang="en-US" b="1" dirty="0">
              <a:latin typeface="Times New Roman"/>
              <a:cs typeface="Calibri"/>
            </a:endParaRPr>
          </a:p>
        </p:txBody>
      </p:sp>
      <p:sp>
        <p:nvSpPr>
          <p:cNvPr id="3" name="object 3"/>
          <p:cNvSpPr txBox="1">
            <a:spLocks noGrp="1"/>
          </p:cNvSpPr>
          <p:nvPr>
            <p:ph type="title"/>
          </p:nvPr>
        </p:nvSpPr>
        <p:spPr>
          <a:xfrm>
            <a:off x="300038" y="428512"/>
            <a:ext cx="4334510" cy="482600"/>
          </a:xfrm>
          <a:prstGeom prst="rect">
            <a:avLst/>
          </a:prstGeom>
        </p:spPr>
        <p:txBody>
          <a:bodyPr vert="horz" wrap="square" lIns="0" tIns="12700" rIns="0" bIns="0" rtlCol="0">
            <a:spAutoFit/>
          </a:bodyPr>
          <a:lstStyle/>
          <a:p>
            <a:pPr marL="12700">
              <a:lnSpc>
                <a:spcPct val="100000"/>
              </a:lnSpc>
              <a:spcBef>
                <a:spcPts val="100"/>
              </a:spcBef>
            </a:pPr>
            <a:r>
              <a:rPr spc="-10"/>
              <a:t>Explorator</a:t>
            </a:r>
            <a:r>
              <a:t>y</a:t>
            </a:r>
            <a:r>
              <a:rPr spc="-10"/>
              <a:t> </a:t>
            </a:r>
            <a:r>
              <a:rPr spc="-5"/>
              <a:t>Dat</a:t>
            </a:r>
            <a:r>
              <a:t>a</a:t>
            </a:r>
            <a:r>
              <a:rPr spc="-170"/>
              <a:t> </a:t>
            </a:r>
            <a:r>
              <a:rPr spc="-5"/>
              <a:t>Analysis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038" y="44520"/>
            <a:ext cx="4334510" cy="895985"/>
          </a:xfrm>
          <a:prstGeom prst="rect">
            <a:avLst/>
          </a:prstGeom>
        </p:spPr>
        <p:txBody>
          <a:bodyPr vert="horz" wrap="square" lIns="0" tIns="122555" rIns="0" bIns="0" rtlCol="0">
            <a:spAutoFit/>
          </a:bodyPr>
          <a:lstStyle/>
          <a:p>
            <a:pPr marL="12700">
              <a:lnSpc>
                <a:spcPct val="100000"/>
              </a:lnSpc>
              <a:spcBef>
                <a:spcPts val="965"/>
              </a:spcBef>
            </a:pPr>
            <a:r>
              <a:rPr spc="-10"/>
              <a:t>Explorator</a:t>
            </a:r>
            <a:r>
              <a:t>y</a:t>
            </a:r>
            <a:r>
              <a:rPr spc="-10"/>
              <a:t> </a:t>
            </a:r>
            <a:r>
              <a:rPr spc="-5"/>
              <a:t>Dat</a:t>
            </a:r>
            <a:r>
              <a:t>a</a:t>
            </a:r>
            <a:r>
              <a:rPr spc="-170"/>
              <a:t> </a:t>
            </a:r>
            <a:r>
              <a:rPr spc="-5"/>
              <a:t>Analysis</a:t>
            </a:r>
          </a:p>
          <a:p>
            <a:pPr marL="245745">
              <a:lnSpc>
                <a:spcPct val="100000"/>
              </a:lnSpc>
              <a:spcBef>
                <a:spcPts val="465"/>
              </a:spcBef>
            </a:pPr>
            <a:r>
              <a:rPr sz="1600" b="0" spc="-5">
                <a:latin typeface="Arial MT"/>
                <a:cs typeface="Arial MT"/>
              </a:rPr>
              <a:t>Box</a:t>
            </a:r>
            <a:r>
              <a:rPr sz="1600" b="0" spc="-20">
                <a:latin typeface="Arial MT"/>
                <a:cs typeface="Arial MT"/>
              </a:rPr>
              <a:t> </a:t>
            </a:r>
            <a:r>
              <a:rPr sz="1600" b="0" spc="-5">
                <a:latin typeface="Arial MT"/>
                <a:cs typeface="Arial MT"/>
              </a:rPr>
              <a:t>Plot</a:t>
            </a:r>
            <a:r>
              <a:rPr sz="1600" b="0" spc="-20">
                <a:latin typeface="Arial MT"/>
                <a:cs typeface="Arial MT"/>
              </a:rPr>
              <a:t> </a:t>
            </a:r>
            <a:r>
              <a:rPr sz="1600" b="0" spc="-5">
                <a:latin typeface="Arial MT"/>
                <a:cs typeface="Arial MT"/>
              </a:rPr>
              <a:t>for</a:t>
            </a:r>
            <a:r>
              <a:rPr sz="1600" b="0" spc="-15">
                <a:latin typeface="Arial MT"/>
                <a:cs typeface="Arial MT"/>
              </a:rPr>
              <a:t> </a:t>
            </a:r>
            <a:r>
              <a:rPr sz="1600" b="0" spc="-5">
                <a:latin typeface="Arial MT"/>
                <a:cs typeface="Arial MT"/>
              </a:rPr>
              <a:t>the</a:t>
            </a:r>
            <a:r>
              <a:rPr sz="1600" b="0" spc="-20">
                <a:latin typeface="Arial MT"/>
                <a:cs typeface="Arial MT"/>
              </a:rPr>
              <a:t> </a:t>
            </a:r>
            <a:r>
              <a:rPr sz="1600" b="0">
                <a:latin typeface="Arial MT"/>
                <a:cs typeface="Arial MT"/>
              </a:rPr>
              <a:t>required</a:t>
            </a:r>
            <a:r>
              <a:rPr sz="1600" b="0" spc="-15">
                <a:latin typeface="Arial MT"/>
                <a:cs typeface="Arial MT"/>
              </a:rPr>
              <a:t> </a:t>
            </a:r>
            <a:r>
              <a:rPr sz="1600" b="0">
                <a:latin typeface="Arial MT"/>
                <a:cs typeface="Arial MT"/>
              </a:rPr>
              <a:t>variables</a:t>
            </a:r>
            <a:endParaRPr sz="1600">
              <a:latin typeface="Arial MT"/>
              <a:cs typeface="Arial MT"/>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13</a:t>
            </a:fld>
            <a:endParaRPr/>
          </a:p>
        </p:txBody>
      </p:sp>
      <p:pic>
        <p:nvPicPr>
          <p:cNvPr id="10" name="Picture 9" descr="A screenshot of a graph&#10;&#10;Description automatically generated">
            <a:extLst>
              <a:ext uri="{FF2B5EF4-FFF2-40B4-BE49-F238E27FC236}">
                <a16:creationId xmlns:a16="http://schemas.microsoft.com/office/drawing/2014/main" id="{F5F9DCE0-1459-C4A0-7C9D-6047A17189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892" y="3429000"/>
            <a:ext cx="8704590" cy="2793296"/>
          </a:xfrm>
          <a:prstGeom prst="rect">
            <a:avLst/>
          </a:prstGeom>
        </p:spPr>
      </p:pic>
      <p:pic>
        <p:nvPicPr>
          <p:cNvPr id="14" name="Picture 13" descr="A screenshot of a computer&#10;&#10;Description automatically generated">
            <a:extLst>
              <a:ext uri="{FF2B5EF4-FFF2-40B4-BE49-F238E27FC236}">
                <a16:creationId xmlns:a16="http://schemas.microsoft.com/office/drawing/2014/main" id="{0914CBBC-D958-4E03-C5DA-8B43AD65BB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518" y="940505"/>
            <a:ext cx="7772400" cy="26408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3E552-F1FC-D0ED-C017-61E201505E5E}"/>
              </a:ext>
            </a:extLst>
          </p:cNvPr>
          <p:cNvSpPr>
            <a:spLocks noGrp="1"/>
          </p:cNvSpPr>
          <p:nvPr>
            <p:ph type="title"/>
          </p:nvPr>
        </p:nvSpPr>
        <p:spPr>
          <a:xfrm>
            <a:off x="300038" y="428512"/>
            <a:ext cx="8543923" cy="461665"/>
          </a:xfrm>
        </p:spPr>
        <p:txBody>
          <a:bodyPr/>
          <a:lstStyle/>
          <a:p>
            <a:r>
              <a:rPr lang="en-US"/>
              <a:t>Exploratory Data Analysis</a:t>
            </a:r>
          </a:p>
        </p:txBody>
      </p:sp>
      <p:pic>
        <p:nvPicPr>
          <p:cNvPr id="6" name="Picture 5" descr="A screenshot of a computer&#10;&#10;Description automatically generated">
            <a:extLst>
              <a:ext uri="{FF2B5EF4-FFF2-40B4-BE49-F238E27FC236}">
                <a16:creationId xmlns:a16="http://schemas.microsoft.com/office/drawing/2014/main" id="{EC3625FD-B7F7-CA01-E3F7-DE32AA4D41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038" y="3429000"/>
            <a:ext cx="7772400" cy="2866185"/>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77855EC0-A2EF-DF8C-1006-0321C7738F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178" y="911112"/>
            <a:ext cx="7467600" cy="2594087"/>
          </a:xfrm>
          <a:prstGeom prst="rect">
            <a:avLst/>
          </a:prstGeom>
        </p:spPr>
      </p:pic>
    </p:spTree>
    <p:extLst>
      <p:ext uri="{BB962C8B-B14F-4D97-AF65-F5344CB8AC3E}">
        <p14:creationId xmlns:p14="http://schemas.microsoft.com/office/powerpoint/2010/main" val="4239628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1023375"/>
            <a:ext cx="8485505" cy="1824989"/>
          </a:xfrm>
          <a:prstGeom prst="rect">
            <a:avLst/>
          </a:prstGeom>
        </p:spPr>
        <p:txBody>
          <a:bodyPr vert="horz" wrap="square" lIns="0" tIns="12700" rIns="0" bIns="0" rtlCol="0">
            <a:spAutoFit/>
          </a:bodyPr>
          <a:lstStyle/>
          <a:p>
            <a:pPr marL="12700">
              <a:lnSpc>
                <a:spcPct val="100000"/>
              </a:lnSpc>
              <a:spcBef>
                <a:spcPts val="100"/>
              </a:spcBef>
            </a:pPr>
            <a:r>
              <a:rPr lang="en-US" sz="1600" spc="-5">
                <a:latin typeface="Arial MT"/>
                <a:cs typeface="Arial MT"/>
              </a:rPr>
              <a:t>Pair</a:t>
            </a:r>
            <a:r>
              <a:rPr sz="1600" spc="-20">
                <a:latin typeface="Arial MT"/>
                <a:cs typeface="Arial MT"/>
              </a:rPr>
              <a:t> </a:t>
            </a:r>
            <a:r>
              <a:rPr sz="1600" spc="-5">
                <a:latin typeface="Arial MT"/>
                <a:cs typeface="Arial MT"/>
              </a:rPr>
              <a:t>Plot</a:t>
            </a:r>
            <a:r>
              <a:rPr sz="1600" spc="-20">
                <a:latin typeface="Arial MT"/>
                <a:cs typeface="Arial MT"/>
              </a:rPr>
              <a:t> </a:t>
            </a:r>
            <a:r>
              <a:rPr sz="1600" spc="-5">
                <a:latin typeface="Arial MT"/>
                <a:cs typeface="Arial MT"/>
              </a:rPr>
              <a:t>for</a:t>
            </a:r>
            <a:r>
              <a:rPr sz="1600" spc="-15">
                <a:latin typeface="Arial MT"/>
                <a:cs typeface="Arial MT"/>
              </a:rPr>
              <a:t> </a:t>
            </a:r>
            <a:r>
              <a:rPr sz="1600" spc="-5">
                <a:latin typeface="Arial MT"/>
                <a:cs typeface="Arial MT"/>
              </a:rPr>
              <a:t>the</a:t>
            </a:r>
            <a:r>
              <a:rPr sz="1600" spc="-20">
                <a:latin typeface="Arial MT"/>
                <a:cs typeface="Arial MT"/>
              </a:rPr>
              <a:t> </a:t>
            </a:r>
            <a:r>
              <a:rPr sz="1600">
                <a:latin typeface="Arial MT"/>
                <a:cs typeface="Arial MT"/>
              </a:rPr>
              <a:t>required</a:t>
            </a:r>
            <a:r>
              <a:rPr sz="1600" spc="-15">
                <a:latin typeface="Arial MT"/>
                <a:cs typeface="Arial MT"/>
              </a:rPr>
              <a:t> </a:t>
            </a:r>
            <a:r>
              <a:rPr sz="1600">
                <a:latin typeface="Arial MT"/>
                <a:cs typeface="Arial MT"/>
              </a:rPr>
              <a:t>variables</a:t>
            </a:r>
          </a:p>
          <a:p>
            <a:pPr>
              <a:lnSpc>
                <a:spcPct val="100000"/>
              </a:lnSpc>
            </a:pPr>
            <a:endParaRPr sz="1800">
              <a:latin typeface="Arial MT"/>
              <a:cs typeface="Arial MT"/>
            </a:endParaRPr>
          </a:p>
          <a:p>
            <a:pPr marL="469900" marR="5080" indent="-309245">
              <a:lnSpc>
                <a:spcPct val="100000"/>
              </a:lnSpc>
              <a:spcBef>
                <a:spcPts val="1540"/>
              </a:spcBef>
              <a:buChar char="•"/>
              <a:tabLst>
                <a:tab pos="469265" algn="l"/>
                <a:tab pos="469900" algn="l"/>
              </a:tabLst>
            </a:pPr>
            <a:r>
              <a:rPr sz="1800" spc="-5">
                <a:latin typeface="Times New Roman"/>
                <a:cs typeface="Times New Roman"/>
              </a:rPr>
              <a:t>The</a:t>
            </a:r>
            <a:r>
              <a:rPr sz="1800" spc="-15">
                <a:latin typeface="Times New Roman"/>
                <a:cs typeface="Times New Roman"/>
              </a:rPr>
              <a:t> </a:t>
            </a:r>
            <a:r>
              <a:rPr sz="1800">
                <a:latin typeface="Times New Roman"/>
                <a:cs typeface="Times New Roman"/>
              </a:rPr>
              <a:t>diagram</a:t>
            </a:r>
            <a:r>
              <a:rPr sz="1800" spc="-5">
                <a:latin typeface="Times New Roman"/>
                <a:cs typeface="Times New Roman"/>
              </a:rPr>
              <a:t> </a:t>
            </a:r>
            <a:r>
              <a:rPr sz="1800">
                <a:latin typeface="Times New Roman"/>
                <a:cs typeface="Times New Roman"/>
              </a:rPr>
              <a:t>graphs</a:t>
            </a:r>
            <a:r>
              <a:rPr sz="1800" spc="-5">
                <a:latin typeface="Times New Roman"/>
                <a:cs typeface="Times New Roman"/>
              </a:rPr>
              <a:t> </a:t>
            </a:r>
            <a:r>
              <a:rPr sz="1800">
                <a:latin typeface="Times New Roman"/>
                <a:cs typeface="Times New Roman"/>
              </a:rPr>
              <a:t>pairs</a:t>
            </a:r>
            <a:r>
              <a:rPr sz="1800" spc="-10">
                <a:latin typeface="Times New Roman"/>
                <a:cs typeface="Times New Roman"/>
              </a:rPr>
              <a:t> </a:t>
            </a:r>
            <a:r>
              <a:rPr sz="1800">
                <a:latin typeface="Times New Roman"/>
                <a:cs typeface="Times New Roman"/>
              </a:rPr>
              <a:t>of</a:t>
            </a:r>
            <a:r>
              <a:rPr sz="1800" spc="-5">
                <a:latin typeface="Times New Roman"/>
                <a:cs typeface="Times New Roman"/>
              </a:rPr>
              <a:t> </a:t>
            </a:r>
            <a:r>
              <a:rPr sz="1800">
                <a:latin typeface="Times New Roman"/>
                <a:cs typeface="Times New Roman"/>
              </a:rPr>
              <a:t>numerical</a:t>
            </a:r>
            <a:r>
              <a:rPr sz="1800" spc="-5">
                <a:latin typeface="Times New Roman"/>
                <a:cs typeface="Times New Roman"/>
              </a:rPr>
              <a:t> </a:t>
            </a:r>
            <a:r>
              <a:rPr sz="1800">
                <a:latin typeface="Times New Roman"/>
                <a:cs typeface="Times New Roman"/>
              </a:rPr>
              <a:t>data,</a:t>
            </a:r>
            <a:r>
              <a:rPr sz="1800" spc="-10">
                <a:latin typeface="Times New Roman"/>
                <a:cs typeface="Times New Roman"/>
              </a:rPr>
              <a:t> </a:t>
            </a:r>
            <a:r>
              <a:rPr sz="1800" spc="-5">
                <a:latin typeface="Times New Roman"/>
                <a:cs typeface="Times New Roman"/>
              </a:rPr>
              <a:t>with</a:t>
            </a:r>
            <a:r>
              <a:rPr sz="1800" spc="-10">
                <a:latin typeface="Times New Roman"/>
                <a:cs typeface="Times New Roman"/>
              </a:rPr>
              <a:t> </a:t>
            </a:r>
            <a:r>
              <a:rPr sz="1800">
                <a:latin typeface="Times New Roman"/>
                <a:cs typeface="Times New Roman"/>
              </a:rPr>
              <a:t>one</a:t>
            </a:r>
            <a:r>
              <a:rPr sz="1800" spc="-5">
                <a:latin typeface="Times New Roman"/>
                <a:cs typeface="Times New Roman"/>
              </a:rPr>
              <a:t> </a:t>
            </a:r>
            <a:r>
              <a:rPr sz="1800">
                <a:latin typeface="Times New Roman"/>
                <a:cs typeface="Times New Roman"/>
              </a:rPr>
              <a:t>numerical</a:t>
            </a:r>
            <a:r>
              <a:rPr sz="1800" spc="-5">
                <a:latin typeface="Times New Roman"/>
                <a:cs typeface="Times New Roman"/>
              </a:rPr>
              <a:t> </a:t>
            </a:r>
            <a:r>
              <a:rPr sz="1800">
                <a:latin typeface="Times New Roman"/>
                <a:cs typeface="Times New Roman"/>
              </a:rPr>
              <a:t>data,</a:t>
            </a:r>
            <a:r>
              <a:rPr sz="1800" spc="-10">
                <a:latin typeface="Times New Roman"/>
                <a:cs typeface="Times New Roman"/>
              </a:rPr>
              <a:t> </a:t>
            </a:r>
            <a:r>
              <a:rPr sz="1800" spc="-5">
                <a:latin typeface="Times New Roman"/>
                <a:cs typeface="Times New Roman"/>
              </a:rPr>
              <a:t>with</a:t>
            </a:r>
            <a:r>
              <a:rPr sz="1800" spc="-10">
                <a:latin typeface="Times New Roman"/>
                <a:cs typeface="Times New Roman"/>
              </a:rPr>
              <a:t> </a:t>
            </a:r>
            <a:r>
              <a:rPr sz="1800">
                <a:latin typeface="Times New Roman"/>
                <a:cs typeface="Times New Roman"/>
              </a:rPr>
              <a:t>one</a:t>
            </a:r>
            <a:r>
              <a:rPr sz="1800" spc="-5">
                <a:latin typeface="Times New Roman"/>
                <a:cs typeface="Times New Roman"/>
              </a:rPr>
              <a:t> </a:t>
            </a:r>
            <a:r>
              <a:rPr sz="1800">
                <a:latin typeface="Times New Roman"/>
                <a:cs typeface="Times New Roman"/>
              </a:rPr>
              <a:t>variable </a:t>
            </a:r>
            <a:r>
              <a:rPr sz="1800" spc="-434">
                <a:latin typeface="Times New Roman"/>
                <a:cs typeface="Times New Roman"/>
              </a:rPr>
              <a:t> </a:t>
            </a:r>
            <a:r>
              <a:rPr sz="1800">
                <a:latin typeface="Times New Roman"/>
                <a:cs typeface="Times New Roman"/>
              </a:rPr>
              <a:t>on</a:t>
            </a:r>
            <a:r>
              <a:rPr sz="1800" spc="-5">
                <a:latin typeface="Times New Roman"/>
                <a:cs typeface="Times New Roman"/>
              </a:rPr>
              <a:t> each axis, to look</a:t>
            </a:r>
            <a:r>
              <a:rPr sz="1800" spc="-10">
                <a:latin typeface="Times New Roman"/>
                <a:cs typeface="Times New Roman"/>
              </a:rPr>
              <a:t> </a:t>
            </a:r>
            <a:r>
              <a:rPr sz="1800">
                <a:latin typeface="Times New Roman"/>
                <a:cs typeface="Times New Roman"/>
              </a:rPr>
              <a:t>for a</a:t>
            </a:r>
            <a:r>
              <a:rPr sz="1800" spc="-5">
                <a:latin typeface="Times New Roman"/>
                <a:cs typeface="Times New Roman"/>
              </a:rPr>
              <a:t> </a:t>
            </a:r>
            <a:r>
              <a:rPr sz="1800">
                <a:latin typeface="Times New Roman"/>
                <a:cs typeface="Times New Roman"/>
              </a:rPr>
              <a:t>relationship between</a:t>
            </a:r>
            <a:r>
              <a:rPr sz="1800" spc="-5">
                <a:latin typeface="Times New Roman"/>
                <a:cs typeface="Times New Roman"/>
              </a:rPr>
              <a:t> them.</a:t>
            </a:r>
            <a:endParaRPr sz="1800">
              <a:latin typeface="Times New Roman"/>
              <a:cs typeface="Times New Roman"/>
            </a:endParaRPr>
          </a:p>
          <a:p>
            <a:pPr marL="469900" indent="-309245">
              <a:lnSpc>
                <a:spcPct val="100000"/>
              </a:lnSpc>
              <a:buChar char="•"/>
              <a:tabLst>
                <a:tab pos="469265" algn="l"/>
                <a:tab pos="469900" algn="l"/>
              </a:tabLst>
            </a:pPr>
            <a:r>
              <a:rPr sz="1800">
                <a:latin typeface="Times New Roman"/>
                <a:cs typeface="Times New Roman"/>
              </a:rPr>
              <a:t>If</a:t>
            </a:r>
            <a:r>
              <a:rPr sz="1800" spc="-5">
                <a:latin typeface="Times New Roman"/>
                <a:cs typeface="Times New Roman"/>
              </a:rPr>
              <a:t> the</a:t>
            </a:r>
            <a:r>
              <a:rPr sz="1800" spc="-10">
                <a:latin typeface="Times New Roman"/>
                <a:cs typeface="Times New Roman"/>
              </a:rPr>
              <a:t> </a:t>
            </a:r>
            <a:r>
              <a:rPr sz="1800">
                <a:latin typeface="Times New Roman"/>
                <a:cs typeface="Times New Roman"/>
              </a:rPr>
              <a:t>variables</a:t>
            </a:r>
            <a:r>
              <a:rPr sz="1800" spc="-5">
                <a:latin typeface="Times New Roman"/>
                <a:cs typeface="Times New Roman"/>
              </a:rPr>
              <a:t> are</a:t>
            </a:r>
            <a:r>
              <a:rPr sz="1800" spc="-10">
                <a:latin typeface="Times New Roman"/>
                <a:cs typeface="Times New Roman"/>
              </a:rPr>
              <a:t> </a:t>
            </a:r>
            <a:r>
              <a:rPr sz="1800" spc="-5">
                <a:latin typeface="Times New Roman"/>
                <a:cs typeface="Times New Roman"/>
              </a:rPr>
              <a:t>correlated,</a:t>
            </a:r>
            <a:r>
              <a:rPr sz="1800" spc="-10">
                <a:latin typeface="Times New Roman"/>
                <a:cs typeface="Times New Roman"/>
              </a:rPr>
              <a:t> </a:t>
            </a:r>
            <a:r>
              <a:rPr sz="1800" spc="-5">
                <a:latin typeface="Times New Roman"/>
                <a:cs typeface="Times New Roman"/>
              </a:rPr>
              <a:t>the</a:t>
            </a:r>
            <a:r>
              <a:rPr sz="1800" spc="-10">
                <a:latin typeface="Times New Roman"/>
                <a:cs typeface="Times New Roman"/>
              </a:rPr>
              <a:t> </a:t>
            </a:r>
            <a:r>
              <a:rPr sz="1800">
                <a:latin typeface="Times New Roman"/>
                <a:cs typeface="Times New Roman"/>
              </a:rPr>
              <a:t>points</a:t>
            </a:r>
            <a:r>
              <a:rPr sz="1800" spc="-5">
                <a:latin typeface="Times New Roman"/>
                <a:cs typeface="Times New Roman"/>
              </a:rPr>
              <a:t> will</a:t>
            </a:r>
            <a:r>
              <a:rPr sz="1800" spc="-10">
                <a:latin typeface="Times New Roman"/>
                <a:cs typeface="Times New Roman"/>
              </a:rPr>
              <a:t> </a:t>
            </a:r>
            <a:r>
              <a:rPr sz="1800">
                <a:latin typeface="Times New Roman"/>
                <a:cs typeface="Times New Roman"/>
              </a:rPr>
              <a:t>fall</a:t>
            </a:r>
            <a:r>
              <a:rPr sz="1800" spc="-5">
                <a:latin typeface="Times New Roman"/>
                <a:cs typeface="Times New Roman"/>
              </a:rPr>
              <a:t> along</a:t>
            </a:r>
            <a:r>
              <a:rPr sz="1800" spc="-10">
                <a:latin typeface="Times New Roman"/>
                <a:cs typeface="Times New Roman"/>
              </a:rPr>
              <a:t> </a:t>
            </a:r>
            <a:r>
              <a:rPr sz="1800">
                <a:latin typeface="Times New Roman"/>
                <a:cs typeface="Times New Roman"/>
              </a:rPr>
              <a:t>a</a:t>
            </a:r>
            <a:r>
              <a:rPr sz="1800" spc="-5">
                <a:latin typeface="Times New Roman"/>
                <a:cs typeface="Times New Roman"/>
              </a:rPr>
              <a:t> line</a:t>
            </a:r>
            <a:r>
              <a:rPr sz="1800" spc="-10">
                <a:latin typeface="Times New Roman"/>
                <a:cs typeface="Times New Roman"/>
              </a:rPr>
              <a:t> </a:t>
            </a:r>
            <a:r>
              <a:rPr sz="1800">
                <a:latin typeface="Times New Roman"/>
                <a:cs typeface="Times New Roman"/>
              </a:rPr>
              <a:t>or</a:t>
            </a:r>
            <a:r>
              <a:rPr sz="1800" spc="-5">
                <a:latin typeface="Times New Roman"/>
                <a:cs typeface="Times New Roman"/>
              </a:rPr>
              <a:t> curve.</a:t>
            </a:r>
            <a:endParaRPr sz="1800">
              <a:latin typeface="Times New Roman"/>
              <a:cs typeface="Times New Roman"/>
            </a:endParaRPr>
          </a:p>
          <a:p>
            <a:pPr marL="469900" indent="-309245">
              <a:lnSpc>
                <a:spcPct val="100000"/>
              </a:lnSpc>
              <a:buChar char="•"/>
              <a:tabLst>
                <a:tab pos="469265" algn="l"/>
                <a:tab pos="469900" algn="l"/>
              </a:tabLst>
            </a:pPr>
            <a:r>
              <a:rPr sz="1800" spc="-5">
                <a:latin typeface="Times New Roman"/>
                <a:cs typeface="Times New Roman"/>
              </a:rPr>
              <a:t>The</a:t>
            </a:r>
            <a:r>
              <a:rPr sz="1800" spc="-10">
                <a:latin typeface="Times New Roman"/>
                <a:cs typeface="Times New Roman"/>
              </a:rPr>
              <a:t> </a:t>
            </a:r>
            <a:r>
              <a:rPr sz="1800">
                <a:latin typeface="Times New Roman"/>
                <a:cs typeface="Times New Roman"/>
              </a:rPr>
              <a:t>better</a:t>
            </a:r>
            <a:r>
              <a:rPr sz="1800" spc="-5">
                <a:latin typeface="Times New Roman"/>
                <a:cs typeface="Times New Roman"/>
              </a:rPr>
              <a:t> the</a:t>
            </a:r>
            <a:r>
              <a:rPr sz="1800" spc="-10">
                <a:latin typeface="Times New Roman"/>
                <a:cs typeface="Times New Roman"/>
              </a:rPr>
              <a:t> </a:t>
            </a:r>
            <a:r>
              <a:rPr sz="1800" spc="-5">
                <a:latin typeface="Times New Roman"/>
                <a:cs typeface="Times New Roman"/>
              </a:rPr>
              <a:t>correlation,</a:t>
            </a:r>
            <a:r>
              <a:rPr sz="1800" spc="-10">
                <a:latin typeface="Times New Roman"/>
                <a:cs typeface="Times New Roman"/>
              </a:rPr>
              <a:t> </a:t>
            </a:r>
            <a:r>
              <a:rPr sz="1800" spc="-5">
                <a:latin typeface="Times New Roman"/>
                <a:cs typeface="Times New Roman"/>
              </a:rPr>
              <a:t>the</a:t>
            </a:r>
            <a:r>
              <a:rPr sz="1800" spc="-10">
                <a:latin typeface="Times New Roman"/>
                <a:cs typeface="Times New Roman"/>
              </a:rPr>
              <a:t> </a:t>
            </a:r>
            <a:r>
              <a:rPr sz="1800" spc="-5">
                <a:latin typeface="Times New Roman"/>
                <a:cs typeface="Times New Roman"/>
              </a:rPr>
              <a:t>tighter</a:t>
            </a:r>
            <a:r>
              <a:rPr sz="1800" spc="-10">
                <a:latin typeface="Times New Roman"/>
                <a:cs typeface="Times New Roman"/>
              </a:rPr>
              <a:t> </a:t>
            </a:r>
            <a:r>
              <a:rPr sz="1800" spc="-5">
                <a:latin typeface="Times New Roman"/>
                <a:cs typeface="Times New Roman"/>
              </a:rPr>
              <a:t>the</a:t>
            </a:r>
            <a:r>
              <a:rPr sz="1800" spc="-10">
                <a:latin typeface="Times New Roman"/>
                <a:cs typeface="Times New Roman"/>
              </a:rPr>
              <a:t> </a:t>
            </a:r>
            <a:r>
              <a:rPr sz="1800">
                <a:latin typeface="Times New Roman"/>
                <a:cs typeface="Times New Roman"/>
              </a:rPr>
              <a:t>points</a:t>
            </a:r>
            <a:r>
              <a:rPr sz="1800" spc="-5">
                <a:latin typeface="Times New Roman"/>
                <a:cs typeface="Times New Roman"/>
              </a:rPr>
              <a:t> will</a:t>
            </a:r>
            <a:r>
              <a:rPr sz="1800" spc="-10">
                <a:latin typeface="Times New Roman"/>
                <a:cs typeface="Times New Roman"/>
              </a:rPr>
              <a:t> </a:t>
            </a:r>
            <a:r>
              <a:rPr sz="1800">
                <a:latin typeface="Times New Roman"/>
                <a:cs typeface="Times New Roman"/>
              </a:rPr>
              <a:t>hug</a:t>
            </a:r>
            <a:r>
              <a:rPr sz="1800" spc="-5">
                <a:latin typeface="Times New Roman"/>
                <a:cs typeface="Times New Roman"/>
              </a:rPr>
              <a:t> the</a:t>
            </a:r>
            <a:r>
              <a:rPr sz="1800" spc="-10">
                <a:latin typeface="Times New Roman"/>
                <a:cs typeface="Times New Roman"/>
              </a:rPr>
              <a:t> </a:t>
            </a:r>
            <a:r>
              <a:rPr sz="1800" spc="-5">
                <a:latin typeface="Times New Roman"/>
                <a:cs typeface="Times New Roman"/>
              </a:rPr>
              <a:t>line.</a:t>
            </a:r>
            <a:endParaRPr sz="1800">
              <a:latin typeface="Times New Roman"/>
              <a:cs typeface="Times New Roman"/>
            </a:endParaRPr>
          </a:p>
        </p:txBody>
      </p:sp>
      <p:sp>
        <p:nvSpPr>
          <p:cNvPr id="3" name="object 3"/>
          <p:cNvSpPr txBox="1">
            <a:spLocks noGrp="1"/>
          </p:cNvSpPr>
          <p:nvPr>
            <p:ph type="title"/>
          </p:nvPr>
        </p:nvSpPr>
        <p:spPr>
          <a:xfrm>
            <a:off x="300038" y="428512"/>
            <a:ext cx="4334510" cy="482600"/>
          </a:xfrm>
          <a:prstGeom prst="rect">
            <a:avLst/>
          </a:prstGeom>
        </p:spPr>
        <p:txBody>
          <a:bodyPr vert="horz" wrap="square" lIns="0" tIns="12700" rIns="0" bIns="0" rtlCol="0">
            <a:spAutoFit/>
          </a:bodyPr>
          <a:lstStyle/>
          <a:p>
            <a:pPr marL="12700">
              <a:lnSpc>
                <a:spcPct val="100000"/>
              </a:lnSpc>
              <a:spcBef>
                <a:spcPts val="100"/>
              </a:spcBef>
            </a:pPr>
            <a:r>
              <a:rPr spc="-10"/>
              <a:t>Explorator</a:t>
            </a:r>
            <a:r>
              <a:t>y</a:t>
            </a:r>
            <a:r>
              <a:rPr spc="-10"/>
              <a:t> </a:t>
            </a:r>
            <a:r>
              <a:rPr spc="-5"/>
              <a:t>Dat</a:t>
            </a:r>
            <a:r>
              <a:t>a</a:t>
            </a:r>
            <a:r>
              <a:rPr spc="-170"/>
              <a:t> </a:t>
            </a:r>
            <a:r>
              <a:rPr spc="-5"/>
              <a:t>Analysis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15</a:t>
            </a:fld>
            <a:endParaRPr/>
          </a:p>
        </p:txBody>
      </p:sp>
      <p:pic>
        <p:nvPicPr>
          <p:cNvPr id="3074" name="Picture 2">
            <a:extLst>
              <a:ext uri="{FF2B5EF4-FFF2-40B4-BE49-F238E27FC236}">
                <a16:creationId xmlns:a16="http://schemas.microsoft.com/office/drawing/2014/main" id="{BB778B7D-589E-18EE-C291-42955F0221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1" y="2933659"/>
            <a:ext cx="3657600" cy="34016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428512"/>
            <a:ext cx="4334510" cy="482600"/>
          </a:xfrm>
          <a:prstGeom prst="rect">
            <a:avLst/>
          </a:prstGeom>
        </p:spPr>
        <p:txBody>
          <a:bodyPr vert="horz" wrap="square" lIns="0" tIns="12700" rIns="0" bIns="0" rtlCol="0">
            <a:spAutoFit/>
          </a:bodyPr>
          <a:lstStyle/>
          <a:p>
            <a:pPr marL="12700">
              <a:lnSpc>
                <a:spcPct val="100000"/>
              </a:lnSpc>
              <a:spcBef>
                <a:spcPts val="100"/>
              </a:spcBef>
            </a:pPr>
            <a:r>
              <a:rPr sz="3000" b="1" spc="-10">
                <a:latin typeface="Times New Roman"/>
                <a:cs typeface="Times New Roman"/>
              </a:rPr>
              <a:t>Explorator</a:t>
            </a:r>
            <a:r>
              <a:rPr sz="3000" b="1">
                <a:latin typeface="Times New Roman"/>
                <a:cs typeface="Times New Roman"/>
              </a:rPr>
              <a:t>y</a:t>
            </a:r>
            <a:r>
              <a:rPr sz="3000" b="1" spc="-10">
                <a:latin typeface="Times New Roman"/>
                <a:cs typeface="Times New Roman"/>
              </a:rPr>
              <a:t> </a:t>
            </a:r>
            <a:r>
              <a:rPr sz="3000" b="1" spc="-5">
                <a:latin typeface="Times New Roman"/>
                <a:cs typeface="Times New Roman"/>
              </a:rPr>
              <a:t>Dat</a:t>
            </a:r>
            <a:r>
              <a:rPr sz="3000" b="1">
                <a:latin typeface="Times New Roman"/>
                <a:cs typeface="Times New Roman"/>
              </a:rPr>
              <a:t>a</a:t>
            </a:r>
            <a:r>
              <a:rPr sz="3000" b="1" spc="-170">
                <a:latin typeface="Times New Roman"/>
                <a:cs typeface="Times New Roman"/>
              </a:rPr>
              <a:t> </a:t>
            </a:r>
            <a:r>
              <a:rPr sz="3000" b="1" spc="-5">
                <a:latin typeface="Times New Roman"/>
                <a:cs typeface="Times New Roman"/>
              </a:rPr>
              <a:t>Analysis</a:t>
            </a:r>
            <a:endParaRPr sz="3000">
              <a:latin typeface="Times New Roman"/>
              <a:cs typeface="Times New Roman"/>
            </a:endParaRPr>
          </a:p>
        </p:txBody>
      </p:sp>
      <p:sp>
        <p:nvSpPr>
          <p:cNvPr id="3" name="object 3"/>
          <p:cNvSpPr txBox="1"/>
          <p:nvPr/>
        </p:nvSpPr>
        <p:spPr>
          <a:xfrm>
            <a:off x="300038" y="1023375"/>
            <a:ext cx="3373120" cy="505267"/>
          </a:xfrm>
          <a:prstGeom prst="rect">
            <a:avLst/>
          </a:prstGeom>
        </p:spPr>
        <p:txBody>
          <a:bodyPr vert="horz" wrap="square" lIns="0" tIns="12700" rIns="0" bIns="0" rtlCol="0">
            <a:spAutoFit/>
          </a:bodyPr>
          <a:lstStyle/>
          <a:p>
            <a:pPr marL="12700">
              <a:lnSpc>
                <a:spcPct val="100000"/>
              </a:lnSpc>
              <a:spcBef>
                <a:spcPts val="100"/>
              </a:spcBef>
            </a:pPr>
            <a:r>
              <a:rPr lang="en-US" sz="1600" spc="-5">
                <a:latin typeface="Arial MT"/>
                <a:cs typeface="Arial MT"/>
              </a:rPr>
              <a:t>Histogram</a:t>
            </a:r>
            <a:r>
              <a:rPr sz="1600" spc="-25">
                <a:latin typeface="Arial MT"/>
                <a:cs typeface="Arial MT"/>
              </a:rPr>
              <a:t> </a:t>
            </a:r>
            <a:r>
              <a:rPr sz="1600" spc="-5">
                <a:latin typeface="Arial MT"/>
                <a:cs typeface="Arial MT"/>
              </a:rPr>
              <a:t>Plot</a:t>
            </a:r>
            <a:r>
              <a:rPr sz="1600" spc="-20">
                <a:latin typeface="Arial MT"/>
                <a:cs typeface="Arial MT"/>
              </a:rPr>
              <a:t> </a:t>
            </a:r>
            <a:r>
              <a:rPr sz="1600" spc="-5">
                <a:latin typeface="Arial MT"/>
                <a:cs typeface="Arial MT"/>
              </a:rPr>
              <a:t>for</a:t>
            </a:r>
            <a:r>
              <a:rPr sz="1600" spc="-20">
                <a:latin typeface="Arial MT"/>
                <a:cs typeface="Arial MT"/>
              </a:rPr>
              <a:t> </a:t>
            </a:r>
            <a:r>
              <a:rPr sz="1600" spc="-5">
                <a:latin typeface="Arial MT"/>
                <a:cs typeface="Arial MT"/>
              </a:rPr>
              <a:t>the</a:t>
            </a:r>
            <a:r>
              <a:rPr sz="1600" spc="-20">
                <a:latin typeface="Arial MT"/>
                <a:cs typeface="Arial MT"/>
              </a:rPr>
              <a:t> </a:t>
            </a:r>
            <a:r>
              <a:rPr sz="1600">
                <a:latin typeface="Arial MT"/>
                <a:cs typeface="Arial MT"/>
              </a:rPr>
              <a:t>required</a:t>
            </a:r>
            <a:r>
              <a:rPr sz="1600" spc="-20">
                <a:latin typeface="Arial MT"/>
                <a:cs typeface="Arial MT"/>
              </a:rPr>
              <a:t> </a:t>
            </a:r>
            <a:r>
              <a:rPr sz="1600">
                <a:latin typeface="Arial MT"/>
                <a:cs typeface="Arial MT"/>
              </a:rPr>
              <a:t>vari</a:t>
            </a:r>
            <a:r>
              <a:rPr lang="en-US" sz="1600">
                <a:latin typeface="Arial MT"/>
                <a:cs typeface="Arial MT"/>
              </a:rPr>
              <a:t>ables</a:t>
            </a:r>
            <a:endParaRPr sz="1600">
              <a:latin typeface="Arial MT"/>
              <a:cs typeface="Arial MT"/>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16</a:t>
            </a:fld>
            <a:endParaRPr/>
          </a:p>
        </p:txBody>
      </p:sp>
      <p:pic>
        <p:nvPicPr>
          <p:cNvPr id="2050" name="Picture 2">
            <a:extLst>
              <a:ext uri="{FF2B5EF4-FFF2-40B4-BE49-F238E27FC236}">
                <a16:creationId xmlns:a16="http://schemas.microsoft.com/office/drawing/2014/main" id="{9C0ABF30-C80A-50FA-1D2A-4C0A7553DC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533225"/>
            <a:ext cx="7178358" cy="47643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038" y="428512"/>
            <a:ext cx="3100070" cy="482600"/>
          </a:xfrm>
          <a:prstGeom prst="rect">
            <a:avLst/>
          </a:prstGeom>
        </p:spPr>
        <p:txBody>
          <a:bodyPr vert="horz" wrap="square" lIns="0" tIns="12700" rIns="0" bIns="0" rtlCol="0">
            <a:spAutoFit/>
          </a:bodyPr>
          <a:lstStyle/>
          <a:p>
            <a:pPr marL="12700">
              <a:lnSpc>
                <a:spcPct val="100000"/>
              </a:lnSpc>
              <a:spcBef>
                <a:spcPts val="100"/>
              </a:spcBef>
            </a:pPr>
            <a:r>
              <a:rPr spc="-5"/>
              <a:t>KNN</a:t>
            </a:r>
            <a:r>
              <a:rPr spc="-90"/>
              <a:t> </a:t>
            </a:r>
            <a:r>
              <a:rPr spc="-5"/>
              <a:t>Methodology</a:t>
            </a:r>
          </a:p>
        </p:txBody>
      </p:sp>
      <p:sp>
        <p:nvSpPr>
          <p:cNvPr id="3" name="object 3"/>
          <p:cNvSpPr txBox="1"/>
          <p:nvPr/>
        </p:nvSpPr>
        <p:spPr>
          <a:xfrm>
            <a:off x="300038" y="1022358"/>
            <a:ext cx="2574925" cy="289823"/>
          </a:xfrm>
          <a:prstGeom prst="rect">
            <a:avLst/>
          </a:prstGeom>
        </p:spPr>
        <p:txBody>
          <a:bodyPr vert="horz" wrap="square" lIns="0" tIns="12700" rIns="0" bIns="0" rtlCol="0">
            <a:spAutoFit/>
          </a:bodyPr>
          <a:lstStyle/>
          <a:p>
            <a:pPr marL="12700">
              <a:lnSpc>
                <a:spcPct val="100000"/>
              </a:lnSpc>
              <a:spcBef>
                <a:spcPts val="100"/>
              </a:spcBef>
            </a:pPr>
            <a:r>
              <a:rPr sz="1800" spc="-5">
                <a:latin typeface="Times New Roman"/>
                <a:cs typeface="Times New Roman"/>
              </a:rPr>
              <a:t>Accuracy</a:t>
            </a:r>
            <a:r>
              <a:rPr sz="1800" spc="-25">
                <a:latin typeface="Times New Roman"/>
                <a:cs typeface="Times New Roman"/>
              </a:rPr>
              <a:t> </a:t>
            </a:r>
            <a:r>
              <a:rPr sz="1800">
                <a:latin typeface="Times New Roman"/>
                <a:cs typeface="Times New Roman"/>
              </a:rPr>
              <a:t>~</a:t>
            </a:r>
            <a:r>
              <a:rPr sz="1800" spc="-20">
                <a:latin typeface="Times New Roman"/>
                <a:cs typeface="Times New Roman"/>
              </a:rPr>
              <a:t> </a:t>
            </a:r>
            <a:r>
              <a:rPr lang="en-US" spc="-20">
                <a:latin typeface="Times New Roman"/>
                <a:cs typeface="Times New Roman"/>
              </a:rPr>
              <a:t>9</a:t>
            </a:r>
            <a:r>
              <a:rPr sz="1800">
                <a:latin typeface="Times New Roman"/>
                <a:cs typeface="Times New Roman"/>
              </a:rPr>
              <a:t>2.</a:t>
            </a:r>
            <a:r>
              <a:rPr lang="en-US" sz="1800">
                <a:latin typeface="Times New Roman"/>
                <a:cs typeface="Times New Roman"/>
              </a:rPr>
              <a:t>30</a:t>
            </a:r>
            <a:r>
              <a:rPr sz="1800">
                <a:latin typeface="Times New Roman"/>
                <a:cs typeface="Times New Roman"/>
              </a:rPr>
              <a:t>%</a:t>
            </a: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17</a:t>
            </a:fld>
            <a:endParaRPr/>
          </a:p>
        </p:txBody>
      </p:sp>
      <p:pic>
        <p:nvPicPr>
          <p:cNvPr id="13" name="Picture 12" descr="A screenshot of a computer code&#10;&#10;Description automatically generated">
            <a:extLst>
              <a:ext uri="{FF2B5EF4-FFF2-40B4-BE49-F238E27FC236}">
                <a16:creationId xmlns:a16="http://schemas.microsoft.com/office/drawing/2014/main" id="{C1F69C93-6A2B-3A2B-3C00-A585BB111D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2205" y="1917700"/>
            <a:ext cx="7139590" cy="3022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428512"/>
            <a:ext cx="2856154" cy="474489"/>
          </a:xfrm>
          <a:prstGeom prst="rect">
            <a:avLst/>
          </a:prstGeom>
        </p:spPr>
        <p:txBody>
          <a:bodyPr vert="horz" wrap="square" lIns="0" tIns="12700" rIns="0" bIns="0" rtlCol="0" anchor="t">
            <a:spAutoFit/>
          </a:bodyPr>
          <a:lstStyle/>
          <a:p>
            <a:pPr marL="12700">
              <a:spcBef>
                <a:spcPts val="100"/>
              </a:spcBef>
            </a:pPr>
            <a:r>
              <a:rPr lang="en-US" sz="3000" b="1" spc="-5">
                <a:latin typeface="Times New Roman"/>
                <a:cs typeface="Times New Roman"/>
              </a:rPr>
              <a:t>Distance based</a:t>
            </a:r>
          </a:p>
        </p:txBody>
      </p:sp>
      <p:sp>
        <p:nvSpPr>
          <p:cNvPr id="3" name="object 3"/>
          <p:cNvSpPr txBox="1"/>
          <p:nvPr/>
        </p:nvSpPr>
        <p:spPr>
          <a:xfrm>
            <a:off x="300038" y="1022358"/>
            <a:ext cx="1843405" cy="299720"/>
          </a:xfrm>
          <a:prstGeom prst="rect">
            <a:avLst/>
          </a:prstGeom>
        </p:spPr>
        <p:txBody>
          <a:bodyPr vert="horz" wrap="square" lIns="0" tIns="12700" rIns="0" bIns="0" rtlCol="0">
            <a:spAutoFit/>
          </a:bodyPr>
          <a:lstStyle/>
          <a:p>
            <a:pPr marL="12700">
              <a:lnSpc>
                <a:spcPct val="100000"/>
              </a:lnSpc>
              <a:spcBef>
                <a:spcPts val="100"/>
              </a:spcBef>
            </a:pPr>
            <a:r>
              <a:rPr sz="1800" spc="-5">
                <a:latin typeface="Times New Roman"/>
                <a:cs typeface="Times New Roman"/>
              </a:rPr>
              <a:t>Accuracy</a:t>
            </a:r>
            <a:r>
              <a:rPr sz="1800" spc="-50">
                <a:latin typeface="Times New Roman"/>
                <a:cs typeface="Times New Roman"/>
              </a:rPr>
              <a:t> </a:t>
            </a:r>
            <a:r>
              <a:rPr sz="1800">
                <a:latin typeface="Times New Roman"/>
                <a:cs typeface="Times New Roman"/>
              </a:rPr>
              <a:t>~</a:t>
            </a:r>
            <a:r>
              <a:rPr sz="1800" spc="-45">
                <a:latin typeface="Times New Roman"/>
                <a:cs typeface="Times New Roman"/>
              </a:rPr>
              <a:t> </a:t>
            </a:r>
            <a:r>
              <a:rPr sz="1800">
                <a:latin typeface="Times New Roman"/>
                <a:cs typeface="Times New Roman"/>
              </a:rPr>
              <a:t>84.79%</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18</a:t>
            </a:fld>
            <a:endParaRPr/>
          </a:p>
        </p:txBody>
      </p:sp>
      <p:pic>
        <p:nvPicPr>
          <p:cNvPr id="6" name="Picture 5" descr="A diagram of circles and arrows&#10;&#10;Description automatically generated">
            <a:extLst>
              <a:ext uri="{FF2B5EF4-FFF2-40B4-BE49-F238E27FC236}">
                <a16:creationId xmlns:a16="http://schemas.microsoft.com/office/drawing/2014/main" id="{A684F321-E060-734E-2178-033A705C9DC5}"/>
              </a:ext>
            </a:extLst>
          </p:cNvPr>
          <p:cNvPicPr>
            <a:picLocks noChangeAspect="1"/>
          </p:cNvPicPr>
          <p:nvPr/>
        </p:nvPicPr>
        <p:blipFill>
          <a:blip r:embed="rId2"/>
          <a:stretch>
            <a:fillRect/>
          </a:stretch>
        </p:blipFill>
        <p:spPr>
          <a:xfrm>
            <a:off x="2176818" y="1765491"/>
            <a:ext cx="4449170" cy="403215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428512"/>
            <a:ext cx="3596004" cy="482600"/>
          </a:xfrm>
          <a:prstGeom prst="rect">
            <a:avLst/>
          </a:prstGeom>
        </p:spPr>
        <p:txBody>
          <a:bodyPr vert="horz" wrap="square" lIns="0" tIns="12700" rIns="0" bIns="0" rtlCol="0">
            <a:spAutoFit/>
          </a:bodyPr>
          <a:lstStyle/>
          <a:p>
            <a:pPr marL="12700">
              <a:lnSpc>
                <a:spcPct val="100000"/>
              </a:lnSpc>
              <a:spcBef>
                <a:spcPts val="100"/>
              </a:spcBef>
            </a:pPr>
            <a:r>
              <a:rPr sz="3000" b="1" spc="-5">
                <a:latin typeface="Times New Roman"/>
                <a:cs typeface="Times New Roman"/>
              </a:rPr>
              <a:t>Gaussian</a:t>
            </a:r>
            <a:r>
              <a:rPr sz="3000" b="1" spc="-50">
                <a:latin typeface="Times New Roman"/>
                <a:cs typeface="Times New Roman"/>
              </a:rPr>
              <a:t> </a:t>
            </a:r>
            <a:r>
              <a:rPr sz="3000" b="1" spc="-5">
                <a:latin typeface="Times New Roman"/>
                <a:cs typeface="Times New Roman"/>
              </a:rPr>
              <a:t>Naive</a:t>
            </a:r>
            <a:r>
              <a:rPr sz="3000" b="1" spc="-45">
                <a:latin typeface="Times New Roman"/>
                <a:cs typeface="Times New Roman"/>
              </a:rPr>
              <a:t> </a:t>
            </a:r>
            <a:r>
              <a:rPr sz="3000" b="1" spc="-5">
                <a:latin typeface="Times New Roman"/>
                <a:cs typeface="Times New Roman"/>
              </a:rPr>
              <a:t>Bayes</a:t>
            </a:r>
            <a:endParaRPr sz="3000">
              <a:latin typeface="Times New Roman"/>
              <a:cs typeface="Times New Roman"/>
            </a:endParaRPr>
          </a:p>
        </p:txBody>
      </p:sp>
      <p:sp>
        <p:nvSpPr>
          <p:cNvPr id="3" name="object 3"/>
          <p:cNvSpPr txBox="1"/>
          <p:nvPr/>
        </p:nvSpPr>
        <p:spPr>
          <a:xfrm>
            <a:off x="300038" y="1022358"/>
            <a:ext cx="1843405" cy="299720"/>
          </a:xfrm>
          <a:prstGeom prst="rect">
            <a:avLst/>
          </a:prstGeom>
        </p:spPr>
        <p:txBody>
          <a:bodyPr vert="horz" wrap="square" lIns="0" tIns="12700" rIns="0" bIns="0" rtlCol="0">
            <a:spAutoFit/>
          </a:bodyPr>
          <a:lstStyle/>
          <a:p>
            <a:pPr marL="12700">
              <a:lnSpc>
                <a:spcPct val="100000"/>
              </a:lnSpc>
              <a:spcBef>
                <a:spcPts val="100"/>
              </a:spcBef>
            </a:pPr>
            <a:r>
              <a:rPr sz="1800" spc="-5">
                <a:latin typeface="Times New Roman"/>
                <a:cs typeface="Times New Roman"/>
              </a:rPr>
              <a:t>Accuracy</a:t>
            </a:r>
            <a:r>
              <a:rPr sz="1800" spc="-50">
                <a:latin typeface="Times New Roman"/>
                <a:cs typeface="Times New Roman"/>
              </a:rPr>
              <a:t> </a:t>
            </a:r>
            <a:r>
              <a:rPr sz="1800">
                <a:latin typeface="Times New Roman"/>
                <a:cs typeface="Times New Roman"/>
              </a:rPr>
              <a:t>~</a:t>
            </a:r>
            <a:r>
              <a:rPr sz="1800" spc="-45">
                <a:latin typeface="Times New Roman"/>
                <a:cs typeface="Times New Roman"/>
              </a:rPr>
              <a:t> </a:t>
            </a:r>
            <a:r>
              <a:rPr sz="1800">
                <a:latin typeface="Times New Roman"/>
                <a:cs typeface="Times New Roman"/>
              </a:rPr>
              <a:t>8</a:t>
            </a:r>
            <a:r>
              <a:rPr lang="en-US" sz="1800">
                <a:latin typeface="Times New Roman"/>
                <a:cs typeface="Times New Roman"/>
              </a:rPr>
              <a:t>8</a:t>
            </a:r>
            <a:r>
              <a:rPr sz="1800">
                <a:latin typeface="Times New Roman"/>
                <a:cs typeface="Times New Roman"/>
              </a:rPr>
              <a:t>.</a:t>
            </a:r>
            <a:r>
              <a:rPr lang="en-US" sz="1800">
                <a:latin typeface="Times New Roman"/>
                <a:cs typeface="Times New Roman"/>
              </a:rPr>
              <a:t>37</a:t>
            </a:r>
            <a:r>
              <a:rPr sz="1800">
                <a:latin typeface="Times New Roman"/>
                <a:cs typeface="Times New Roman"/>
              </a:rPr>
              <a: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19</a:t>
            </a:fld>
            <a:endParaRPr/>
          </a:p>
        </p:txBody>
      </p:sp>
      <p:pic>
        <p:nvPicPr>
          <p:cNvPr id="7" name="Picture 6" descr="A screenshot of a computer program&#10;&#10;Description automatically generated">
            <a:extLst>
              <a:ext uri="{FF2B5EF4-FFF2-40B4-BE49-F238E27FC236}">
                <a16:creationId xmlns:a16="http://schemas.microsoft.com/office/drawing/2014/main" id="{81455C8D-C19F-E9A4-6972-96A4296632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6210" y="2133600"/>
            <a:ext cx="7079166" cy="29718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428512"/>
            <a:ext cx="3775075" cy="482600"/>
          </a:xfrm>
          <a:prstGeom prst="rect">
            <a:avLst/>
          </a:prstGeom>
        </p:spPr>
        <p:txBody>
          <a:bodyPr vert="horz" wrap="square" lIns="0" tIns="12700" rIns="0" bIns="0" rtlCol="0">
            <a:spAutoFit/>
          </a:bodyPr>
          <a:lstStyle/>
          <a:p>
            <a:pPr marL="12700">
              <a:lnSpc>
                <a:spcPct val="100000"/>
              </a:lnSpc>
              <a:spcBef>
                <a:spcPts val="100"/>
              </a:spcBef>
            </a:pPr>
            <a:r>
              <a:rPr sz="3000" b="1" spc="-5">
                <a:latin typeface="Times New Roman"/>
                <a:cs typeface="Times New Roman"/>
              </a:rPr>
              <a:t>Decision</a:t>
            </a:r>
            <a:r>
              <a:rPr sz="3000" b="1" spc="-90">
                <a:latin typeface="Times New Roman"/>
                <a:cs typeface="Times New Roman"/>
              </a:rPr>
              <a:t> </a:t>
            </a:r>
            <a:r>
              <a:rPr sz="3000" b="1" spc="-65">
                <a:latin typeface="Times New Roman"/>
                <a:cs typeface="Times New Roman"/>
              </a:rPr>
              <a:t>Trees</a:t>
            </a:r>
            <a:r>
              <a:rPr sz="3000" b="1" spc="-40">
                <a:latin typeface="Times New Roman"/>
                <a:cs typeface="Times New Roman"/>
              </a:rPr>
              <a:t> </a:t>
            </a:r>
            <a:r>
              <a:rPr sz="3000" b="1" spc="-20">
                <a:latin typeface="Times New Roman"/>
                <a:cs typeface="Times New Roman"/>
              </a:rPr>
              <a:t>(CART)</a:t>
            </a:r>
            <a:endParaRPr sz="3000">
              <a:latin typeface="Times New Roman"/>
              <a:cs typeface="Times New Roman"/>
            </a:endParaRPr>
          </a:p>
        </p:txBody>
      </p:sp>
      <p:sp>
        <p:nvSpPr>
          <p:cNvPr id="3" name="object 3"/>
          <p:cNvSpPr txBox="1"/>
          <p:nvPr/>
        </p:nvSpPr>
        <p:spPr>
          <a:xfrm>
            <a:off x="300038" y="1022358"/>
            <a:ext cx="1843405" cy="299720"/>
          </a:xfrm>
          <a:prstGeom prst="rect">
            <a:avLst/>
          </a:prstGeom>
        </p:spPr>
        <p:txBody>
          <a:bodyPr vert="horz" wrap="square" lIns="0" tIns="12700" rIns="0" bIns="0" rtlCol="0">
            <a:spAutoFit/>
          </a:bodyPr>
          <a:lstStyle/>
          <a:p>
            <a:pPr marL="12700">
              <a:lnSpc>
                <a:spcPct val="100000"/>
              </a:lnSpc>
              <a:spcBef>
                <a:spcPts val="100"/>
              </a:spcBef>
            </a:pPr>
            <a:r>
              <a:rPr sz="1800" spc="-5">
                <a:latin typeface="Times New Roman"/>
                <a:cs typeface="Times New Roman"/>
              </a:rPr>
              <a:t>Accuracy</a:t>
            </a:r>
            <a:r>
              <a:rPr sz="1800" spc="-50">
                <a:latin typeface="Times New Roman"/>
                <a:cs typeface="Times New Roman"/>
              </a:rPr>
              <a:t> </a:t>
            </a:r>
            <a:r>
              <a:rPr sz="1800">
                <a:latin typeface="Times New Roman"/>
                <a:cs typeface="Times New Roman"/>
              </a:rPr>
              <a:t>~</a:t>
            </a:r>
            <a:r>
              <a:rPr sz="1800" spc="-45">
                <a:latin typeface="Times New Roman"/>
                <a:cs typeface="Times New Roman"/>
              </a:rPr>
              <a:t> </a:t>
            </a:r>
            <a:r>
              <a:rPr sz="1800">
                <a:latin typeface="Times New Roman"/>
                <a:cs typeface="Times New Roman"/>
              </a:rPr>
              <a:t>7</a:t>
            </a:r>
            <a:r>
              <a:rPr lang="en-US" sz="1800">
                <a:latin typeface="Times New Roman"/>
                <a:cs typeface="Times New Roman"/>
              </a:rPr>
              <a:t>6</a:t>
            </a:r>
            <a:r>
              <a:rPr sz="1800">
                <a:latin typeface="Times New Roman"/>
                <a:cs typeface="Times New Roman"/>
              </a:rPr>
              <a:t>.</a:t>
            </a:r>
            <a:r>
              <a:rPr lang="en-US" sz="1800">
                <a:latin typeface="Times New Roman"/>
                <a:cs typeface="Times New Roman"/>
              </a:rPr>
              <a:t>13</a:t>
            </a:r>
            <a:r>
              <a:rPr sz="1800">
                <a:latin typeface="Times New Roman"/>
                <a:cs typeface="Times New Roman"/>
              </a:rPr>
              <a: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20</a:t>
            </a:fld>
            <a:endParaRPr/>
          </a:p>
        </p:txBody>
      </p:sp>
      <p:pic>
        <p:nvPicPr>
          <p:cNvPr id="7" name="Picture 6" descr="A screenshot of a computer&#10;&#10;Description automatically generated">
            <a:extLst>
              <a:ext uri="{FF2B5EF4-FFF2-40B4-BE49-F238E27FC236}">
                <a16:creationId xmlns:a16="http://schemas.microsoft.com/office/drawing/2014/main" id="{7AEDE78C-4DF7-3941-D794-B73DA980B0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2206624"/>
            <a:ext cx="6705600" cy="299401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AA22C-9E32-CD19-7C9E-5CB96F412BB3}"/>
              </a:ext>
            </a:extLst>
          </p:cNvPr>
          <p:cNvSpPr>
            <a:spLocks noGrp="1"/>
          </p:cNvSpPr>
          <p:nvPr>
            <p:ph type="title"/>
          </p:nvPr>
        </p:nvSpPr>
        <p:spPr>
          <a:xfrm>
            <a:off x="300038" y="428512"/>
            <a:ext cx="8543923" cy="461665"/>
          </a:xfrm>
        </p:spPr>
        <p:txBody>
          <a:bodyPr/>
          <a:lstStyle/>
          <a:p>
            <a:r>
              <a:rPr lang="en-US"/>
              <a:t>Tree Based Algorithm</a:t>
            </a:r>
          </a:p>
        </p:txBody>
      </p:sp>
      <p:sp>
        <p:nvSpPr>
          <p:cNvPr id="3" name="Text Placeholder 2">
            <a:extLst>
              <a:ext uri="{FF2B5EF4-FFF2-40B4-BE49-F238E27FC236}">
                <a16:creationId xmlns:a16="http://schemas.microsoft.com/office/drawing/2014/main" id="{71555F49-A10A-FB3F-7247-979E94DEBE1B}"/>
              </a:ext>
            </a:extLst>
          </p:cNvPr>
          <p:cNvSpPr>
            <a:spLocks noGrp="1"/>
          </p:cNvSpPr>
          <p:nvPr>
            <p:ph type="body" idx="1"/>
          </p:nvPr>
        </p:nvSpPr>
        <p:spPr>
          <a:xfrm>
            <a:off x="473837" y="1715749"/>
            <a:ext cx="8545574" cy="4353560"/>
          </a:xfrm>
        </p:spPr>
        <p:txBody>
          <a:bodyPr/>
          <a:lstStyle/>
          <a:p>
            <a:endParaRPr lang="en-US"/>
          </a:p>
        </p:txBody>
      </p:sp>
      <p:pic>
        <p:nvPicPr>
          <p:cNvPr id="4098" name="Picture 2">
            <a:extLst>
              <a:ext uri="{FF2B5EF4-FFF2-40B4-BE49-F238E27FC236}">
                <a16:creationId xmlns:a16="http://schemas.microsoft.com/office/drawing/2014/main" id="{1037615C-BF48-47F9-4510-43FB325BC2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589" y="890177"/>
            <a:ext cx="9019411" cy="5434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422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428512"/>
            <a:ext cx="2932932" cy="474489"/>
          </a:xfrm>
          <a:prstGeom prst="rect">
            <a:avLst/>
          </a:prstGeom>
        </p:spPr>
        <p:txBody>
          <a:bodyPr vert="horz" wrap="square" lIns="0" tIns="12700" rIns="0" bIns="0" rtlCol="0" anchor="t">
            <a:spAutoFit/>
          </a:bodyPr>
          <a:lstStyle/>
          <a:p>
            <a:pPr marL="12700">
              <a:spcBef>
                <a:spcPts val="100"/>
              </a:spcBef>
            </a:pPr>
            <a:r>
              <a:rPr lang="en-US" sz="3000" b="1" spc="-60">
                <a:latin typeface="Times New Roman"/>
                <a:cs typeface="Times New Roman"/>
              </a:rPr>
              <a:t>Non Tree based</a:t>
            </a:r>
          </a:p>
        </p:txBody>
      </p:sp>
      <p:sp>
        <p:nvSpPr>
          <p:cNvPr id="3" name="object 3"/>
          <p:cNvSpPr txBox="1"/>
          <p:nvPr/>
        </p:nvSpPr>
        <p:spPr>
          <a:xfrm>
            <a:off x="300038" y="1412386"/>
            <a:ext cx="1843405" cy="299720"/>
          </a:xfrm>
          <a:prstGeom prst="rect">
            <a:avLst/>
          </a:prstGeom>
        </p:spPr>
        <p:txBody>
          <a:bodyPr vert="horz" wrap="square" lIns="0" tIns="12700" rIns="0" bIns="0" rtlCol="0" anchor="t">
            <a:spAutoFit/>
          </a:bodyPr>
          <a:lstStyle/>
          <a:p>
            <a:pPr marL="12700">
              <a:lnSpc>
                <a:spcPct val="100000"/>
              </a:lnSpc>
              <a:spcBef>
                <a:spcPts val="100"/>
              </a:spcBef>
            </a:pPr>
            <a:r>
              <a:rPr sz="1800" spc="-5">
                <a:latin typeface="Times New Roman"/>
                <a:cs typeface="Times New Roman"/>
              </a:rPr>
              <a:t>Accuracy</a:t>
            </a:r>
            <a:r>
              <a:rPr sz="1800" spc="-50">
                <a:latin typeface="Times New Roman"/>
                <a:cs typeface="Times New Roman"/>
              </a:rPr>
              <a:t> </a:t>
            </a:r>
            <a:r>
              <a:rPr sz="1800">
                <a:latin typeface="Times New Roman"/>
                <a:cs typeface="Times New Roman"/>
              </a:rPr>
              <a:t>~</a:t>
            </a:r>
            <a:r>
              <a:rPr sz="1800" spc="-45">
                <a:latin typeface="Times New Roman"/>
                <a:cs typeface="Times New Roman"/>
              </a:rPr>
              <a:t> </a:t>
            </a:r>
            <a:r>
              <a:rPr lang="en-US">
                <a:latin typeface="Times New Roman"/>
                <a:cs typeface="Times New Roman"/>
              </a:rPr>
              <a:t>88.00</a:t>
            </a:r>
            <a:r>
              <a:rPr sz="1800">
                <a:latin typeface="Times New Roman"/>
                <a:cs typeface="Times New Roman"/>
              </a:rPr>
              <a:t>%</a:t>
            </a:r>
            <a:endParaRPr lang="en-US" sz="18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22</a:t>
            </a:fld>
            <a:endParaRPr/>
          </a:p>
        </p:txBody>
      </p:sp>
      <p:pic>
        <p:nvPicPr>
          <p:cNvPr id="7" name="Picture 6" descr="A screenshot of a computer&#10;&#10;Description automatically generated">
            <a:extLst>
              <a:ext uri="{FF2B5EF4-FFF2-40B4-BE49-F238E27FC236}">
                <a16:creationId xmlns:a16="http://schemas.microsoft.com/office/drawing/2014/main" id="{DAE11588-5C83-575E-1652-4DBAEB7BB01D}"/>
              </a:ext>
            </a:extLst>
          </p:cNvPr>
          <p:cNvPicPr>
            <a:picLocks noChangeAspect="1"/>
          </p:cNvPicPr>
          <p:nvPr/>
        </p:nvPicPr>
        <p:blipFill>
          <a:blip r:embed="rId2"/>
          <a:stretch>
            <a:fillRect/>
          </a:stretch>
        </p:blipFill>
        <p:spPr>
          <a:xfrm>
            <a:off x="112675" y="1904082"/>
            <a:ext cx="8701967" cy="3483203"/>
          </a:xfrm>
          <a:prstGeom prst="rect">
            <a:avLst/>
          </a:prstGeom>
        </p:spPr>
      </p:pic>
      <p:sp>
        <p:nvSpPr>
          <p:cNvPr id="8" name="TextBox 7">
            <a:extLst>
              <a:ext uri="{FF2B5EF4-FFF2-40B4-BE49-F238E27FC236}">
                <a16:creationId xmlns:a16="http://schemas.microsoft.com/office/drawing/2014/main" id="{E2ACCE5C-6FAF-859A-A08E-DFEC7543CA74}"/>
              </a:ext>
            </a:extLst>
          </p:cNvPr>
          <p:cNvSpPr txBox="1"/>
          <p:nvPr/>
        </p:nvSpPr>
        <p:spPr>
          <a:xfrm>
            <a:off x="184179" y="964236"/>
            <a:ext cx="3239402"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Using Logistic Regression </a:t>
            </a:r>
            <a:endParaRPr lang="en-US" sz="2000">
              <a:cs typeface="Calibri"/>
            </a:endParaRPr>
          </a:p>
          <a:p>
            <a:pPr algn="l"/>
            <a:endParaRPr lang="en-US">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428512"/>
            <a:ext cx="5408295" cy="1041311"/>
          </a:xfrm>
          <a:prstGeom prst="rect">
            <a:avLst/>
          </a:prstGeom>
        </p:spPr>
        <p:txBody>
          <a:bodyPr vert="horz" wrap="square" lIns="0" tIns="12700" rIns="0" bIns="0" rtlCol="0" anchor="t">
            <a:spAutoFit/>
          </a:bodyPr>
          <a:lstStyle/>
          <a:p>
            <a:r>
              <a:rPr lang="en-US" sz="3000" b="1">
                <a:latin typeface="Times New Roman"/>
                <a:cs typeface="Times New Roman"/>
              </a:rPr>
              <a:t>Using K-nearest Neighbors</a:t>
            </a:r>
            <a:endParaRPr lang="en-US" sz="3000" b="1">
              <a:solidFill>
                <a:srgbClr val="008ABC"/>
              </a:solidFill>
              <a:latin typeface="Times New Roman"/>
              <a:cs typeface="Times New Roman"/>
            </a:endParaRPr>
          </a:p>
          <a:p>
            <a:pPr marL="12700">
              <a:spcBef>
                <a:spcPts val="100"/>
              </a:spcBef>
            </a:pPr>
            <a:br>
              <a:rPr lang="en-US"/>
            </a:br>
            <a:endParaRPr lang="en-US"/>
          </a:p>
        </p:txBody>
      </p:sp>
      <p:sp>
        <p:nvSpPr>
          <p:cNvPr id="3" name="object 3"/>
          <p:cNvSpPr txBox="1"/>
          <p:nvPr/>
        </p:nvSpPr>
        <p:spPr>
          <a:xfrm>
            <a:off x="300038" y="1022358"/>
            <a:ext cx="1843405" cy="299720"/>
          </a:xfrm>
          <a:prstGeom prst="rect">
            <a:avLst/>
          </a:prstGeom>
        </p:spPr>
        <p:txBody>
          <a:bodyPr vert="horz" wrap="square" lIns="0" tIns="12700" rIns="0" bIns="0" rtlCol="0" anchor="t">
            <a:spAutoFit/>
          </a:bodyPr>
          <a:lstStyle/>
          <a:p>
            <a:pPr marL="12700">
              <a:spcBef>
                <a:spcPts val="100"/>
              </a:spcBef>
            </a:pPr>
            <a:r>
              <a:rPr sz="1800" spc="-5">
                <a:latin typeface="Times New Roman"/>
                <a:cs typeface="Times New Roman"/>
              </a:rPr>
              <a:t>Accuracy</a:t>
            </a:r>
            <a:r>
              <a:rPr sz="1800" spc="-50">
                <a:latin typeface="Times New Roman"/>
                <a:cs typeface="Times New Roman"/>
              </a:rPr>
              <a:t> </a:t>
            </a:r>
            <a:r>
              <a:rPr sz="1800">
                <a:latin typeface="Times New Roman"/>
                <a:cs typeface="Times New Roman"/>
              </a:rPr>
              <a:t>~</a:t>
            </a:r>
            <a:r>
              <a:rPr lang="en-US" spc="-45">
                <a:latin typeface="Times New Roman"/>
                <a:cs typeface="Times New Roman"/>
              </a:rPr>
              <a:t> 92.30</a:t>
            </a:r>
            <a:r>
              <a:rPr sz="1800">
                <a:latin typeface="Times New Roman"/>
                <a:cs typeface="Times New Roman"/>
              </a:rPr>
              <a: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23</a:t>
            </a:fld>
            <a:endParaRPr/>
          </a:p>
        </p:txBody>
      </p:sp>
      <p:pic>
        <p:nvPicPr>
          <p:cNvPr id="7" name="Picture 6" descr="A screenshot of a computer screen&#10;&#10;Description automatically generated">
            <a:extLst>
              <a:ext uri="{FF2B5EF4-FFF2-40B4-BE49-F238E27FC236}">
                <a16:creationId xmlns:a16="http://schemas.microsoft.com/office/drawing/2014/main" id="{3E25C297-32A1-9AE1-4F34-CEE6BAC033D3}"/>
              </a:ext>
            </a:extLst>
          </p:cNvPr>
          <p:cNvPicPr>
            <a:picLocks noChangeAspect="1"/>
          </p:cNvPicPr>
          <p:nvPr/>
        </p:nvPicPr>
        <p:blipFill>
          <a:blip r:embed="rId2"/>
          <a:stretch>
            <a:fillRect/>
          </a:stretch>
        </p:blipFill>
        <p:spPr>
          <a:xfrm>
            <a:off x="784391" y="2281586"/>
            <a:ext cx="6968507" cy="306404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58EF4-9B4E-8FCF-62B7-2CC367C8CD15}"/>
              </a:ext>
            </a:extLst>
          </p:cNvPr>
          <p:cNvSpPr>
            <a:spLocks noGrp="1"/>
          </p:cNvSpPr>
          <p:nvPr>
            <p:ph type="title"/>
          </p:nvPr>
        </p:nvSpPr>
        <p:spPr>
          <a:xfrm>
            <a:off x="300038" y="428512"/>
            <a:ext cx="8543923" cy="461665"/>
          </a:xfrm>
        </p:spPr>
        <p:txBody>
          <a:bodyPr/>
          <a:lstStyle/>
          <a:p>
            <a:r>
              <a:rPr lang="en-US"/>
              <a:t>Random Forest Feature Importance</a:t>
            </a:r>
          </a:p>
        </p:txBody>
      </p:sp>
      <p:sp>
        <p:nvSpPr>
          <p:cNvPr id="3" name="Text Placeholder 2">
            <a:extLst>
              <a:ext uri="{FF2B5EF4-FFF2-40B4-BE49-F238E27FC236}">
                <a16:creationId xmlns:a16="http://schemas.microsoft.com/office/drawing/2014/main" id="{79281635-09FA-23D5-87F2-36A319F1A1E5}"/>
              </a:ext>
            </a:extLst>
          </p:cNvPr>
          <p:cNvSpPr>
            <a:spLocks noGrp="1"/>
          </p:cNvSpPr>
          <p:nvPr>
            <p:ph type="body" idx="1"/>
          </p:nvPr>
        </p:nvSpPr>
        <p:spPr>
          <a:xfrm>
            <a:off x="299212" y="2065618"/>
            <a:ext cx="8545574" cy="3573181"/>
          </a:xfrm>
        </p:spPr>
        <p:txBody>
          <a:bodyPr/>
          <a:lstStyle/>
          <a:p>
            <a:endParaRPr lang="en-US"/>
          </a:p>
        </p:txBody>
      </p:sp>
      <p:pic>
        <p:nvPicPr>
          <p:cNvPr id="5122" name="Picture 2">
            <a:extLst>
              <a:ext uri="{FF2B5EF4-FFF2-40B4-BE49-F238E27FC236}">
                <a16:creationId xmlns:a16="http://schemas.microsoft.com/office/drawing/2014/main" id="{B161BCA0-CD13-3F75-DE70-F1EB50C43F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41" y="1219201"/>
            <a:ext cx="9046858" cy="5105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21709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428512"/>
            <a:ext cx="3101340" cy="482600"/>
          </a:xfrm>
          <a:prstGeom prst="rect">
            <a:avLst/>
          </a:prstGeom>
        </p:spPr>
        <p:txBody>
          <a:bodyPr vert="horz" wrap="square" lIns="0" tIns="12700" rIns="0" bIns="0" rtlCol="0">
            <a:spAutoFit/>
          </a:bodyPr>
          <a:lstStyle/>
          <a:p>
            <a:pPr marL="12700">
              <a:lnSpc>
                <a:spcPct val="100000"/>
              </a:lnSpc>
              <a:spcBef>
                <a:spcPts val="100"/>
              </a:spcBef>
            </a:pPr>
            <a:r>
              <a:rPr sz="3000" b="1" spc="-5">
                <a:latin typeface="Times New Roman"/>
                <a:cs typeface="Times New Roman"/>
              </a:rPr>
              <a:t>SVM</a:t>
            </a:r>
            <a:r>
              <a:rPr sz="3000" b="1" spc="-85">
                <a:latin typeface="Times New Roman"/>
                <a:cs typeface="Times New Roman"/>
              </a:rPr>
              <a:t> </a:t>
            </a:r>
            <a:r>
              <a:rPr sz="3000" b="1" spc="-5">
                <a:latin typeface="Times New Roman"/>
                <a:cs typeface="Times New Roman"/>
              </a:rPr>
              <a:t>Methodology</a:t>
            </a:r>
            <a:endParaRPr sz="3000">
              <a:latin typeface="Times New Roman"/>
              <a:cs typeface="Times New Roman"/>
            </a:endParaRPr>
          </a:p>
        </p:txBody>
      </p:sp>
      <p:sp>
        <p:nvSpPr>
          <p:cNvPr id="3" name="object 3"/>
          <p:cNvSpPr txBox="1"/>
          <p:nvPr/>
        </p:nvSpPr>
        <p:spPr>
          <a:xfrm>
            <a:off x="300038" y="1022358"/>
            <a:ext cx="1843405" cy="299720"/>
          </a:xfrm>
          <a:prstGeom prst="rect">
            <a:avLst/>
          </a:prstGeom>
        </p:spPr>
        <p:txBody>
          <a:bodyPr vert="horz" wrap="square" lIns="0" tIns="12700" rIns="0" bIns="0" rtlCol="0">
            <a:spAutoFit/>
          </a:bodyPr>
          <a:lstStyle/>
          <a:p>
            <a:pPr marL="12700">
              <a:lnSpc>
                <a:spcPct val="100000"/>
              </a:lnSpc>
              <a:spcBef>
                <a:spcPts val="100"/>
              </a:spcBef>
            </a:pPr>
            <a:r>
              <a:rPr sz="1800" spc="-5">
                <a:latin typeface="Times New Roman"/>
                <a:cs typeface="Times New Roman"/>
              </a:rPr>
              <a:t>Accuracy</a:t>
            </a:r>
            <a:r>
              <a:rPr sz="1800" spc="-50">
                <a:latin typeface="Times New Roman"/>
                <a:cs typeface="Times New Roman"/>
              </a:rPr>
              <a:t> </a:t>
            </a:r>
            <a:r>
              <a:rPr sz="1800">
                <a:latin typeface="Times New Roman"/>
                <a:cs typeface="Times New Roman"/>
              </a:rPr>
              <a:t>~</a:t>
            </a:r>
            <a:r>
              <a:rPr sz="1800" spc="-45">
                <a:latin typeface="Times New Roman"/>
                <a:cs typeface="Times New Roman"/>
              </a:rPr>
              <a:t> </a:t>
            </a:r>
            <a:r>
              <a:rPr sz="1800">
                <a:latin typeface="Times New Roman"/>
                <a:cs typeface="Times New Roman"/>
              </a:rPr>
              <a:t>8</a:t>
            </a:r>
            <a:r>
              <a:rPr lang="en-US" sz="1800">
                <a:latin typeface="Times New Roman"/>
                <a:cs typeface="Times New Roman"/>
              </a:rPr>
              <a:t>6</a:t>
            </a:r>
            <a:r>
              <a:rPr sz="1800">
                <a:latin typeface="Times New Roman"/>
                <a:cs typeface="Times New Roman"/>
              </a:rPr>
              <a:t>.</a:t>
            </a:r>
            <a:r>
              <a:rPr lang="en-US" sz="1800">
                <a:latin typeface="Times New Roman"/>
                <a:cs typeface="Times New Roman"/>
              </a:rPr>
              <a:t>90</a:t>
            </a:r>
            <a:r>
              <a:rPr sz="1800">
                <a:latin typeface="Times New Roman"/>
                <a:cs typeface="Times New Roman"/>
              </a:rPr>
              <a: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25</a:t>
            </a:fld>
            <a:endParaRPr/>
          </a:p>
        </p:txBody>
      </p:sp>
      <p:pic>
        <p:nvPicPr>
          <p:cNvPr id="7" name="Picture 6" descr="A screenshot of a computer code&#10;&#10;Description automatically generated">
            <a:extLst>
              <a:ext uri="{FF2B5EF4-FFF2-40B4-BE49-F238E27FC236}">
                <a16:creationId xmlns:a16="http://schemas.microsoft.com/office/drawing/2014/main" id="{41DAF9DC-135E-403C-085C-097BC8FBBB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2063952"/>
            <a:ext cx="6362700" cy="273009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F2F9C-3408-AD82-A9AA-5F8117A85D30}"/>
              </a:ext>
            </a:extLst>
          </p:cNvPr>
          <p:cNvSpPr>
            <a:spLocks noGrp="1"/>
          </p:cNvSpPr>
          <p:nvPr>
            <p:ph type="ctrTitle"/>
          </p:nvPr>
        </p:nvSpPr>
        <p:spPr>
          <a:xfrm>
            <a:off x="300038" y="428512"/>
            <a:ext cx="8543923" cy="461665"/>
          </a:xfrm>
        </p:spPr>
        <p:txBody>
          <a:bodyPr/>
          <a:lstStyle/>
          <a:p>
            <a:r>
              <a:rPr lang="en-US"/>
              <a:t>XG Boost </a:t>
            </a:r>
          </a:p>
        </p:txBody>
      </p:sp>
      <p:sp>
        <p:nvSpPr>
          <p:cNvPr id="3" name="Subtitle 2">
            <a:extLst>
              <a:ext uri="{FF2B5EF4-FFF2-40B4-BE49-F238E27FC236}">
                <a16:creationId xmlns:a16="http://schemas.microsoft.com/office/drawing/2014/main" id="{A96433D5-70BF-F6B4-BEAA-38B94D8D0B7E}"/>
              </a:ext>
            </a:extLst>
          </p:cNvPr>
          <p:cNvSpPr>
            <a:spLocks noGrp="1"/>
          </p:cNvSpPr>
          <p:nvPr>
            <p:ph type="subTitle" idx="4"/>
          </p:nvPr>
        </p:nvSpPr>
        <p:spPr/>
        <p:txBody>
          <a:bodyPr/>
          <a:lstStyle/>
          <a:p>
            <a:endParaRPr lang="en-US"/>
          </a:p>
        </p:txBody>
      </p:sp>
      <p:pic>
        <p:nvPicPr>
          <p:cNvPr id="6146" name="Picture 2">
            <a:extLst>
              <a:ext uri="{FF2B5EF4-FFF2-40B4-BE49-F238E27FC236}">
                <a16:creationId xmlns:a16="http://schemas.microsoft.com/office/drawing/2014/main" id="{43296A2B-A67F-B54F-92E6-732929B4A3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062" y="890177"/>
            <a:ext cx="8857938" cy="5247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3466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9212" y="1410949"/>
            <a:ext cx="8341995" cy="5657959"/>
          </a:xfrm>
          <a:prstGeom prst="rect">
            <a:avLst/>
          </a:prstGeom>
        </p:spPr>
        <p:txBody>
          <a:bodyPr vert="horz" wrap="square" lIns="0" tIns="12700" rIns="0" bIns="0" rtlCol="0" anchor="t">
            <a:spAutoFit/>
          </a:bodyPr>
          <a:lstStyle/>
          <a:p>
            <a:r>
              <a:rPr lang="en-US" sz="2200" dirty="0">
                <a:ea typeface="+mn-lt"/>
                <a:cs typeface="+mn-lt"/>
              </a:rPr>
              <a:t>             In summary, this presentation highlights the alarming global impact of cardiovascular diseases (CVDs), responsible for 17.9 million deaths annually. With heart attacks and strokes causing four out of five CVD deaths, early detection is crucial. The dataset, focused on predicting heart disease, features 11 key factors.</a:t>
            </a:r>
            <a:endParaRPr lang="en-US" dirty="0"/>
          </a:p>
          <a:p>
            <a:endParaRPr lang="en-US" sz="2200" dirty="0">
              <a:ea typeface="+mn-lt"/>
              <a:cs typeface="+mn-lt"/>
            </a:endParaRPr>
          </a:p>
          <a:p>
            <a:r>
              <a:rPr lang="en-US" sz="2200" dirty="0">
                <a:ea typeface="+mn-lt"/>
                <a:cs typeface="+mn-lt"/>
              </a:rPr>
              <a:t>             The talk emphasizes the significance of data preprocessing, showcasing methods to identify and handle missing values. Practical examples of imputation techniques, like </a:t>
            </a:r>
            <a:r>
              <a:rPr lang="en-US" sz="2200" dirty="0" err="1">
                <a:ea typeface="+mn-lt"/>
                <a:cs typeface="+mn-lt"/>
              </a:rPr>
              <a:t>SimpleImputer</a:t>
            </a:r>
            <a:r>
              <a:rPr lang="en-US" sz="2200" dirty="0">
                <a:ea typeface="+mn-lt"/>
                <a:cs typeface="+mn-lt"/>
              </a:rPr>
              <a:t>, are presented. The importance of feature scaling is discussed, with insights into normalization and standardization using code snippets. Categorical variable handling is demonstrated through Label Encoding and One-Hot Encoding methods, providing essential tools for refining datasets in the context of cardiovascular disease prediction.</a:t>
            </a:r>
            <a:endParaRPr lang="en-US" dirty="0">
              <a:ea typeface="+mn-lt"/>
              <a:cs typeface="+mn-lt"/>
            </a:endParaRPr>
          </a:p>
          <a:p>
            <a:br>
              <a:rPr lang="en-US" dirty="0"/>
            </a:br>
            <a:endParaRPr lang="en-US" dirty="0"/>
          </a:p>
          <a:p>
            <a:pPr marL="12700" marR="29845">
              <a:lnSpc>
                <a:spcPct val="100000"/>
              </a:lnSpc>
              <a:spcBef>
                <a:spcPts val="100"/>
              </a:spcBef>
            </a:pPr>
            <a:endParaRPr sz="2200" dirty="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27</a:t>
            </a:fld>
            <a:endParaRPr/>
          </a:p>
        </p:txBody>
      </p:sp>
      <p:sp>
        <p:nvSpPr>
          <p:cNvPr id="3" name="object 3"/>
          <p:cNvSpPr txBox="1">
            <a:spLocks noGrp="1"/>
          </p:cNvSpPr>
          <p:nvPr>
            <p:ph type="title"/>
          </p:nvPr>
        </p:nvSpPr>
        <p:spPr>
          <a:xfrm>
            <a:off x="300038" y="428512"/>
            <a:ext cx="3941445" cy="482600"/>
          </a:xfrm>
          <a:prstGeom prst="rect">
            <a:avLst/>
          </a:prstGeom>
        </p:spPr>
        <p:txBody>
          <a:bodyPr vert="horz" wrap="square" lIns="0" tIns="12700" rIns="0" bIns="0" rtlCol="0">
            <a:spAutoFit/>
          </a:bodyPr>
          <a:lstStyle/>
          <a:p>
            <a:pPr marL="12700">
              <a:lnSpc>
                <a:spcPct val="100000"/>
              </a:lnSpc>
              <a:spcBef>
                <a:spcPts val="100"/>
              </a:spcBef>
            </a:pPr>
            <a:r>
              <a:rPr spc="-5"/>
              <a:t>Conclusion</a:t>
            </a:r>
            <a:r>
              <a:rPr spc="-50"/>
              <a:t> </a:t>
            </a:r>
            <a:r>
              <a:t>and</a:t>
            </a:r>
            <a:r>
              <a:rPr spc="-40"/>
              <a:t> </a:t>
            </a:r>
            <a:r>
              <a:rPr spc="-5"/>
              <a:t>Insights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73636" y="5731128"/>
            <a:ext cx="995044" cy="299720"/>
          </a:xfrm>
          <a:prstGeom prst="rect">
            <a:avLst/>
          </a:prstGeom>
        </p:spPr>
        <p:txBody>
          <a:bodyPr vert="horz" wrap="square" lIns="0" tIns="12700" rIns="0" bIns="0" rtlCol="0">
            <a:spAutoFit/>
          </a:bodyPr>
          <a:lstStyle/>
          <a:p>
            <a:pPr marL="12700">
              <a:lnSpc>
                <a:spcPct val="100000"/>
              </a:lnSpc>
              <a:spcBef>
                <a:spcPts val="100"/>
              </a:spcBef>
            </a:pPr>
            <a:r>
              <a:rPr sz="1800" spc="-5">
                <a:solidFill>
                  <a:srgbClr val="3E3E3E"/>
                </a:solidFill>
                <a:latin typeface="Times New Roman"/>
                <a:cs typeface="Times New Roman"/>
              </a:rPr>
              <a:t>THE</a:t>
            </a:r>
            <a:r>
              <a:rPr sz="1800" spc="-85">
                <a:solidFill>
                  <a:srgbClr val="3E3E3E"/>
                </a:solidFill>
                <a:latin typeface="Times New Roman"/>
                <a:cs typeface="Times New Roman"/>
              </a:rPr>
              <a:t> </a:t>
            </a:r>
            <a:r>
              <a:rPr sz="1800" spc="-5">
                <a:solidFill>
                  <a:srgbClr val="3E3E3E"/>
                </a:solidFill>
                <a:latin typeface="Times New Roman"/>
                <a:cs typeface="Times New Roman"/>
              </a:rPr>
              <a:t>END</a:t>
            </a:r>
            <a:endParaRPr sz="18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28</Slides>
  <Notes>0</Notes>
  <HiddenSlides>0</HiddenSlide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Group Members</vt:lpstr>
      <vt:lpstr>Contents</vt:lpstr>
      <vt:lpstr>Dataset description</vt:lpstr>
      <vt:lpstr>PowerPoint Presentation</vt:lpstr>
      <vt:lpstr>Exploratory Data Analysis</vt:lpstr>
      <vt:lpstr>Exploratory Data Analysis</vt:lpstr>
      <vt:lpstr>PowerPoint Presentation</vt:lpstr>
      <vt:lpstr>Exploratory Data Analysis</vt:lpstr>
      <vt:lpstr>PowerPoint Presentation</vt:lpstr>
      <vt:lpstr>Exploratory Data Analysis</vt:lpstr>
      <vt:lpstr>Exploratory Data Analysis</vt:lpstr>
      <vt:lpstr>Exploratory Data Analysis Box Plot for the required variables</vt:lpstr>
      <vt:lpstr>Exploratory Data Analysis</vt:lpstr>
      <vt:lpstr>Exploratory Data Analysis</vt:lpstr>
      <vt:lpstr>PowerPoint Presentation</vt:lpstr>
      <vt:lpstr>KNN Methodology</vt:lpstr>
      <vt:lpstr>PowerPoint Presentation</vt:lpstr>
      <vt:lpstr>PowerPoint Presentation</vt:lpstr>
      <vt:lpstr>PowerPoint Presentation</vt:lpstr>
      <vt:lpstr>Tree Based Algorithm</vt:lpstr>
      <vt:lpstr>PowerPoint Presentation</vt:lpstr>
      <vt:lpstr>PowerPoint Presentation</vt:lpstr>
      <vt:lpstr>Random Forest Feature Importance</vt:lpstr>
      <vt:lpstr>PowerPoint Presentation</vt:lpstr>
      <vt:lpstr>XG Boost </vt:lpstr>
      <vt:lpstr>Conclusion and Insights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KDDM Presentation Final</dc:title>
  <cp:revision>19</cp:revision>
  <dcterms:created xsi:type="dcterms:W3CDTF">2023-12-03T17:45:03Z</dcterms:created>
  <dcterms:modified xsi:type="dcterms:W3CDTF">2023-12-05T01:51:13Z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